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51560" cy="45720"/>
          </a:xfrm>
          <a:prstGeom prst="rect">
            <a:avLst/>
          </a:prstGeom>
          <a:solidFill>
            <a:srgbClr val="2B5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8229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0" i="0">
                <a:solidFill>
                  <a:srgbClr val="14171C"/>
                </a:solidFill>
                <a:latin typeface="Georgia"/>
              </a:rPr>
              <a:t>Kaynağa bağlı cevap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63240"/>
            <a:ext cx="859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4A5058"/>
                </a:solidFill>
                <a:latin typeface="Segoe UI"/>
              </a:rPr>
              <a:t>Hibrit retrieval + LangGraph ajanı üzerine kurulu bir RAG sistemi, 374 serilik bir talep tahmini çalışması, ve ikisini de canlıya taşıyan bir Azure mimarisi.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25130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5F75"/>
                </a:solidFill>
                <a:latin typeface="Consolas"/>
              </a:rPr>
              <a:t>276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489703"/>
            <a:ext cx="25130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4A5058"/>
                </a:solidFill>
                <a:latin typeface="Segoe UI"/>
              </a:rPr>
              <a:t>parça · bölüm farkındalıklı chunking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54908" y="3977639"/>
            <a:ext cx="25130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5F75"/>
                </a:solidFill>
                <a:latin typeface="Consolas"/>
              </a:rPr>
              <a:t>768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4908" y="4489703"/>
            <a:ext cx="25130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4A5058"/>
                </a:solidFill>
                <a:latin typeface="Segoe UI"/>
              </a:rPr>
              <a:t>boyut · multilingual-e5-base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4016" y="3977639"/>
            <a:ext cx="25130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5F75"/>
                </a:solidFill>
                <a:latin typeface="Consolas"/>
              </a:rPr>
              <a:t>RRF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4016" y="4489703"/>
            <a:ext cx="25130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4A5058"/>
                </a:solidFill>
                <a:latin typeface="Segoe UI"/>
              </a:rPr>
              <a:t>dense + BM25 füzyonu (k=60)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3124" y="3977639"/>
            <a:ext cx="25130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5F75"/>
                </a:solidFill>
                <a:latin typeface="Consolas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3124" y="4489703"/>
            <a:ext cx="25130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4A5058"/>
                </a:solidFill>
                <a:latin typeface="Segoe UI"/>
              </a:rPr>
              <a:t>vakalı deterministik değerlendirme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230368"/>
            <a:ext cx="10820400" cy="9525"/>
          </a:xfrm>
          <a:prstGeom prst="rect">
            <a:avLst/>
          </a:prstGeom>
          <a:solidFill>
            <a:srgbClr val="DE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413248"/>
            <a:ext cx="1082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A5058"/>
                </a:solidFill>
                <a:latin typeface="Consolas"/>
              </a:rPr>
              <a:t>Harun Berkin Çetin</a:t>
            </a:r>
            <a:r>
              <a:rPr sz="1150" b="0" i="0">
                <a:solidFill>
                  <a:srgbClr val="858C96"/>
                </a:solidFill>
                <a:latin typeface="Consolas"/>
              </a:rPr>
              <a:t>      Python · TypeScript · Azure      Test odaklı geliştirme      Ölçmeden iddia yok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5F75"/>
                </a:solidFill>
                <a:latin typeface="Consolas"/>
              </a:rPr>
              <a:t>00  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BEN KIMIM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77824"/>
            <a:ext cx="10820400" cy="9525"/>
          </a:xfrm>
          <a:prstGeom prst="rect">
            <a:avLst/>
          </a:prstGeom>
          <a:solidFill>
            <a:srgbClr val="DE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24128"/>
            <a:ext cx="1082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171C"/>
                </a:solidFill>
                <a:latin typeface="Georgia"/>
              </a:rPr>
              <a:t>Kararlarını ölçümle veren bir geliştirici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326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4A5058"/>
                </a:solidFill>
                <a:latin typeface="Segoe UI"/>
              </a:rPr>
              <a:t>Bu sunumdaki her eşik, her parametre ve her "bu çalışıyor" cümlesi bir komutun çıktısına dayanıyor. Aşağıda anlatacağım şeylerin tamamı — hatalar dahil — böyle bulundu.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880360"/>
            <a:ext cx="342392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3118104"/>
            <a:ext cx="2948432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858C96"/>
                </a:solidFill>
                <a:latin typeface="Consolas"/>
              </a:rPr>
              <a:t>NASIL ÇALIŞIRIM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300" b="1" i="0">
                <a:solidFill>
                  <a:srgbClr val="14171C"/>
                </a:solidFill>
                <a:latin typeface="Segoe UI"/>
              </a:rPr>
              <a:t>Önce başarısız test.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Üretim kodu, kendisini kırmızıya düşüren bir test olmadan yazılmıyor. 213 test, %93,9 satır kapsamı.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4040" y="2880360"/>
            <a:ext cx="342392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1784" y="3118104"/>
            <a:ext cx="2948432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858C96"/>
                </a:solidFill>
                <a:latin typeface="Consolas"/>
              </a:rPr>
              <a:t>NASIL DOĞRULARIM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300" b="1" i="0">
                <a:solidFill>
                  <a:srgbClr val="14171C"/>
                </a:solidFill>
                <a:latin typeface="Segoe UI"/>
              </a:rPr>
              <a:t>Taze kanıt.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Komutu bu turda çalıştırmadıysam "geçiyor" demiyorum. Eşikler tahminle değil, 16 soruluk kalibrasyon setiyle belirlendi.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2280" y="2880360"/>
            <a:ext cx="342392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0024" y="3118104"/>
            <a:ext cx="2948432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858C96"/>
                </a:solidFill>
                <a:latin typeface="Consolas"/>
              </a:rPr>
              <a:t>NASIL RAPORLARIM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300" b="1" i="0">
                <a:solidFill>
                  <a:srgbClr val="14171C"/>
                </a:solidFill>
                <a:latin typeface="Segoe UI"/>
              </a:rPr>
              <a:t>Kusur da bulgudur.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Model kötü sonuç verdiyse menüde öyle yazıyor; kotasızlıktan yapılamayan iş kapsam dışı olarak kaydedildi.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81728"/>
            <a:ext cx="10820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58C96"/>
                </a:solidFill>
                <a:latin typeface="Consolas"/>
              </a:rPr>
              <a:t>KULLANILAN TEKNOLOJİLER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956048"/>
            <a:ext cx="1475232" cy="292608"/>
          </a:xfrm>
          <a:prstGeom prst="roundRect">
            <a:avLst>
              <a:gd name="adj" fmla="val 4000"/>
            </a:avLst>
          </a:prstGeom>
          <a:solidFill>
            <a:srgbClr val="F2F0EA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956048"/>
            <a:ext cx="1475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A5058"/>
                </a:solidFill>
                <a:latin typeface="Consolas"/>
              </a:rPr>
              <a:t>Python 3.10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3328" y="4956048"/>
            <a:ext cx="1475232" cy="292608"/>
          </a:xfrm>
          <a:prstGeom prst="roundRect">
            <a:avLst>
              <a:gd name="adj" fmla="val 4000"/>
            </a:avLst>
          </a:prstGeom>
          <a:solidFill>
            <a:srgbClr val="F2F0EA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3328" y="4956048"/>
            <a:ext cx="1475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A5058"/>
                </a:solidFill>
                <a:latin typeface="Consolas"/>
              </a:rPr>
              <a:t>FastAPI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00856" y="4956048"/>
            <a:ext cx="1475232" cy="292608"/>
          </a:xfrm>
          <a:prstGeom prst="roundRect">
            <a:avLst>
              <a:gd name="adj" fmla="val 4000"/>
            </a:avLst>
          </a:prstGeom>
          <a:solidFill>
            <a:srgbClr val="F2F0EA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00856" y="4956048"/>
            <a:ext cx="1475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A5058"/>
                </a:solidFill>
                <a:latin typeface="Consolas"/>
              </a:rPr>
              <a:t>LangGraph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58384" y="4956048"/>
            <a:ext cx="1475232" cy="292608"/>
          </a:xfrm>
          <a:prstGeom prst="roundRect">
            <a:avLst>
              <a:gd name="adj" fmla="val 4000"/>
            </a:avLst>
          </a:prstGeom>
          <a:solidFill>
            <a:srgbClr val="F2F0EA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58384" y="4956048"/>
            <a:ext cx="1475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A5058"/>
                </a:solidFill>
                <a:latin typeface="Consolas"/>
              </a:rPr>
              <a:t>ChromaDB / HNSW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15912" y="4956048"/>
            <a:ext cx="1475232" cy="292608"/>
          </a:xfrm>
          <a:prstGeom prst="roundRect">
            <a:avLst>
              <a:gd name="adj" fmla="val 4000"/>
            </a:avLst>
          </a:prstGeom>
          <a:solidFill>
            <a:srgbClr val="F2F0EA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15912" y="4956048"/>
            <a:ext cx="1475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A5058"/>
                </a:solidFill>
                <a:latin typeface="Consolas"/>
              </a:rPr>
              <a:t>BM25Okapi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73440" y="4956048"/>
            <a:ext cx="1475232" cy="292608"/>
          </a:xfrm>
          <a:prstGeom prst="roundRect">
            <a:avLst>
              <a:gd name="adj" fmla="val 4000"/>
            </a:avLst>
          </a:prstGeom>
          <a:solidFill>
            <a:srgbClr val="F2F0EA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73440" y="4956048"/>
            <a:ext cx="1475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A5058"/>
                </a:solidFill>
                <a:latin typeface="Consolas"/>
              </a:rPr>
              <a:t>sentence-transformers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30968" y="4956048"/>
            <a:ext cx="1475232" cy="292608"/>
          </a:xfrm>
          <a:prstGeom prst="roundRect">
            <a:avLst>
              <a:gd name="adj" fmla="val 4000"/>
            </a:avLst>
          </a:prstGeom>
          <a:solidFill>
            <a:srgbClr val="F2F0EA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30968" y="4956048"/>
            <a:ext cx="1475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A5058"/>
                </a:solidFill>
                <a:latin typeface="Consolas"/>
              </a:rPr>
              <a:t>Azure OpenAI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340096"/>
            <a:ext cx="1475232" cy="292608"/>
          </a:xfrm>
          <a:prstGeom prst="roundRect">
            <a:avLst>
              <a:gd name="adj" fmla="val 4000"/>
            </a:avLst>
          </a:prstGeom>
          <a:solidFill>
            <a:srgbClr val="F2F0EA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340096"/>
            <a:ext cx="1475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A5058"/>
                </a:solidFill>
                <a:latin typeface="Consolas"/>
              </a:rPr>
              <a:t>pandas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43328" y="5340096"/>
            <a:ext cx="1475232" cy="292608"/>
          </a:xfrm>
          <a:prstGeom prst="roundRect">
            <a:avLst>
              <a:gd name="adj" fmla="val 4000"/>
            </a:avLst>
          </a:prstGeom>
          <a:solidFill>
            <a:srgbClr val="F2F0EA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43328" y="5340096"/>
            <a:ext cx="1475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A5058"/>
                </a:solidFill>
                <a:latin typeface="Consolas"/>
              </a:rPr>
              <a:t>LightGBM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00856" y="5340096"/>
            <a:ext cx="1475232" cy="292608"/>
          </a:xfrm>
          <a:prstGeom prst="roundRect">
            <a:avLst>
              <a:gd name="adj" fmla="val 4000"/>
            </a:avLst>
          </a:prstGeom>
          <a:solidFill>
            <a:srgbClr val="F2F0EA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00856" y="5340096"/>
            <a:ext cx="1475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A5058"/>
                </a:solidFill>
                <a:latin typeface="Consolas"/>
              </a:rPr>
              <a:t>statsmodels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58384" y="5340096"/>
            <a:ext cx="1475232" cy="292608"/>
          </a:xfrm>
          <a:prstGeom prst="roundRect">
            <a:avLst>
              <a:gd name="adj" fmla="val 4000"/>
            </a:avLst>
          </a:prstGeom>
          <a:solidFill>
            <a:srgbClr val="F2F0EA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58384" y="5340096"/>
            <a:ext cx="1475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A5058"/>
                </a:solidFill>
                <a:latin typeface="Consolas"/>
              </a:rPr>
              <a:t>Next.js 15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15912" y="5340096"/>
            <a:ext cx="1475232" cy="292608"/>
          </a:xfrm>
          <a:prstGeom prst="roundRect">
            <a:avLst>
              <a:gd name="adj" fmla="val 4000"/>
            </a:avLst>
          </a:prstGeom>
          <a:solidFill>
            <a:srgbClr val="F2F0EA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15912" y="5340096"/>
            <a:ext cx="1475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A5058"/>
                </a:solidFill>
                <a:latin typeface="Consolas"/>
              </a:rPr>
              <a:t>TypeScript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73440" y="5340096"/>
            <a:ext cx="1475232" cy="292608"/>
          </a:xfrm>
          <a:prstGeom prst="roundRect">
            <a:avLst>
              <a:gd name="adj" fmla="val 4000"/>
            </a:avLst>
          </a:prstGeom>
          <a:solidFill>
            <a:srgbClr val="F2F0EA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73440" y="5340096"/>
            <a:ext cx="1475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A5058"/>
                </a:solidFill>
                <a:latin typeface="Consolas"/>
              </a:rPr>
              <a:t>Container Apps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30968" y="5340096"/>
            <a:ext cx="1475232" cy="292608"/>
          </a:xfrm>
          <a:prstGeom prst="roundRect">
            <a:avLst>
              <a:gd name="adj" fmla="val 4000"/>
            </a:avLst>
          </a:prstGeom>
          <a:solidFill>
            <a:srgbClr val="F2F0EA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30968" y="5340096"/>
            <a:ext cx="1475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A5058"/>
                </a:solidFill>
                <a:latin typeface="Consolas"/>
              </a:rPr>
              <a:t>pytest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00 · Ben kimim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1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5F75"/>
                </a:solidFill>
                <a:latin typeface="Consolas"/>
              </a:rPr>
              <a:t>01  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BÖLÜM 1 — RAG AJANI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77824"/>
            <a:ext cx="10820400" cy="9525"/>
          </a:xfrm>
          <a:prstGeom prst="rect">
            <a:avLst/>
          </a:prstGeom>
          <a:solidFill>
            <a:srgbClr val="DE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24128"/>
            <a:ext cx="1082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171C"/>
                </a:solidFill>
                <a:latin typeface="Georgia"/>
              </a:rPr>
              <a:t>Uçtan uca boru hattı ve parametreleri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47088"/>
            <a:ext cx="169672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975104"/>
            <a:ext cx="1404112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50" b="0" i="0">
                <a:solidFill>
                  <a:srgbClr val="2B5F75"/>
                </a:solidFill>
                <a:latin typeface="Consolas"/>
              </a:rPr>
              <a:t>01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 i="0">
                <a:solidFill>
                  <a:srgbClr val="14171C"/>
                </a:solidFill>
                <a:latin typeface="Segoe UI"/>
              </a:rPr>
              <a:t>Yükleme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00" b="0" i="0">
                <a:solidFill>
                  <a:srgbClr val="858C96"/>
                </a:solidFill>
                <a:latin typeface="Consolas"/>
              </a:rPr>
              <a:t>PDF/DOCX/XLSX
→ 219 bölüm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0536" y="1847088"/>
            <a:ext cx="169672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840" y="1975104"/>
            <a:ext cx="1404112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50" b="0" i="0">
                <a:solidFill>
                  <a:srgbClr val="2B5F75"/>
                </a:solidFill>
                <a:latin typeface="Consolas"/>
              </a:rPr>
              <a:t>02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 i="0">
                <a:solidFill>
                  <a:srgbClr val="14171C"/>
                </a:solidFill>
                <a:latin typeface="Segoe UI"/>
              </a:rPr>
              <a:t>Chunking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00" b="0" i="0">
                <a:solidFill>
                  <a:srgbClr val="858C96"/>
                </a:solidFill>
                <a:latin typeface="Consolas"/>
              </a:rPr>
              <a:t>bölüm farkındalıklı
1200/150 → 276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5272" y="1847088"/>
            <a:ext cx="169672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1576" y="1975104"/>
            <a:ext cx="1404112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50" b="0" i="0">
                <a:solidFill>
                  <a:srgbClr val="2B5F75"/>
                </a:solidFill>
                <a:latin typeface="Consolas"/>
              </a:rPr>
              <a:t>03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 i="0">
                <a:solidFill>
                  <a:srgbClr val="14171C"/>
                </a:solidFill>
                <a:latin typeface="Segoe UI"/>
              </a:rPr>
              <a:t>Embedding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00" b="0" i="0">
                <a:solidFill>
                  <a:srgbClr val="858C96"/>
                </a:solidFill>
                <a:latin typeface="Consolas"/>
              </a:rPr>
              <a:t>e5-base 768-d
L2 normalize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0008" y="1847088"/>
            <a:ext cx="169672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6312" y="1975104"/>
            <a:ext cx="1404112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50" b="0" i="0">
                <a:solidFill>
                  <a:srgbClr val="2B5F75"/>
                </a:solidFill>
                <a:latin typeface="Consolas"/>
              </a:rPr>
              <a:t>04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 i="0">
                <a:solidFill>
                  <a:srgbClr val="14171C"/>
                </a:solidFill>
                <a:latin typeface="Segoe UI"/>
              </a:rPr>
              <a:t>İndeks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00" b="0" i="0">
                <a:solidFill>
                  <a:srgbClr val="858C96"/>
                </a:solidFill>
                <a:latin typeface="Consolas"/>
              </a:rPr>
              <a:t>Chroma HNSW
+ BM25Okapi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84744" y="1847088"/>
            <a:ext cx="169672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1048" y="1975104"/>
            <a:ext cx="1404112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50" b="0" i="0">
                <a:solidFill>
                  <a:srgbClr val="2B5F75"/>
                </a:solidFill>
                <a:latin typeface="Consolas"/>
              </a:rPr>
              <a:t>05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 i="0">
                <a:solidFill>
                  <a:srgbClr val="14171C"/>
                </a:solidFill>
                <a:latin typeface="Segoe UI"/>
              </a:rPr>
              <a:t>Retrieval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00" b="0" i="0">
                <a:solidFill>
                  <a:srgbClr val="858C96"/>
                </a:solidFill>
                <a:latin typeface="Consolas"/>
              </a:rPr>
              <a:t>hibrit, RRF k=60
top_k=5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09480" y="1847088"/>
            <a:ext cx="169672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55784" y="1975104"/>
            <a:ext cx="1404112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50" b="0" i="0">
                <a:solidFill>
                  <a:srgbClr val="2B5F75"/>
                </a:solidFill>
                <a:latin typeface="Consolas"/>
              </a:rPr>
              <a:t>06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 i="0">
                <a:solidFill>
                  <a:srgbClr val="14171C"/>
                </a:solidFill>
                <a:latin typeface="Segoe UI"/>
              </a:rPr>
              <a:t>Ajan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00" b="0" i="0">
                <a:solidFill>
                  <a:srgbClr val="858C96"/>
                </a:solidFill>
                <a:latin typeface="Consolas"/>
              </a:rPr>
              <a:t>LangGraph
9 düğüm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200400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58C96"/>
                </a:solidFill>
                <a:latin typeface="Consolas"/>
              </a:rPr>
              <a:t>ÇALIŞAN YAPILANDIRMA — src/rag/config.py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493008"/>
            <a:ext cx="10820400" cy="310896"/>
          </a:xfrm>
          <a:prstGeom prst="rect">
            <a:avLst/>
          </a:prstGeom>
          <a:solidFill>
            <a:srgbClr val="F2F0EA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3493008"/>
            <a:ext cx="290866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PARAMETRE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05358" y="3493008"/>
            <a:ext cx="218730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DEĞER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5540" y="3493008"/>
            <a:ext cx="517579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NEDEN BU DEĞER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803904"/>
            <a:ext cx="1082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3803904"/>
            <a:ext cx="290866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4171C"/>
                </a:solidFill>
                <a:latin typeface="Consolas"/>
              </a:rPr>
              <a:t>chunk_max_chars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05358" y="3803904"/>
            <a:ext cx="218730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4171C"/>
                </a:solidFill>
                <a:latin typeface="Consolas"/>
              </a:rPr>
              <a:t>1200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5540" y="3803904"/>
            <a:ext cx="517579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A5058"/>
                </a:solidFill>
                <a:latin typeface="Segoe UI"/>
              </a:rPr>
              <a:t>KÜB bölümleri tek paragraf; 1200 bir bölümü tek parçada tutuyor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096512"/>
            <a:ext cx="1082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" y="4096512"/>
            <a:ext cx="290866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4171C"/>
                </a:solidFill>
                <a:latin typeface="Consolas"/>
              </a:rPr>
              <a:t>chunk_overlap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05358" y="4096512"/>
            <a:ext cx="218730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4171C"/>
                </a:solidFill>
                <a:latin typeface="Consolas"/>
              </a:rPr>
              <a:t>150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5540" y="4096512"/>
            <a:ext cx="517579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A5058"/>
                </a:solidFill>
                <a:latin typeface="Segoe UI"/>
              </a:rPr>
              <a:t>Parça sınırına denk gelen cümle iki parçada da bulunuyor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389120"/>
            <a:ext cx="1082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" y="4389120"/>
            <a:ext cx="290866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4171C"/>
                </a:solidFill>
                <a:latin typeface="Consolas"/>
              </a:rPr>
              <a:t>embedding_model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05358" y="4389120"/>
            <a:ext cx="218730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4171C"/>
                </a:solidFill>
                <a:latin typeface="Consolas"/>
              </a:rPr>
              <a:t>multilingual-e5-base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5540" y="4389120"/>
            <a:ext cx="517579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A5058"/>
                </a:solidFill>
                <a:latin typeface="Segoe UI"/>
              </a:rPr>
              <a:t>Türkçe destekli, 768 boyut, yerelde çalışıyor (ADR-002)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4681728"/>
            <a:ext cx="1082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" y="4681728"/>
            <a:ext cx="290866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4171C"/>
                </a:solidFill>
                <a:latin typeface="Consolas"/>
              </a:rPr>
              <a:t>top_k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05358" y="4681728"/>
            <a:ext cx="218730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4171C"/>
                </a:solidFill>
                <a:latin typeface="Consola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5540" y="4681728"/>
            <a:ext cx="517579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A5058"/>
                </a:solidFill>
                <a:latin typeface="Segoe UI"/>
              </a:rPr>
              <a:t>Aday havuzu 20, LLM'e giden 5 — bağlam maliyeti / kapsama dengesi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4974336"/>
            <a:ext cx="1082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" y="4974336"/>
            <a:ext cx="290866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4171C"/>
                </a:solidFill>
                <a:latin typeface="Consolas"/>
              </a:rPr>
              <a:t>min_cosine / min_bm25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05358" y="4974336"/>
            <a:ext cx="218730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4171C"/>
                </a:solidFill>
                <a:latin typeface="Consolas"/>
              </a:rPr>
              <a:t>0.80 / 5.0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75540" y="4974336"/>
            <a:ext cx="517579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A5058"/>
                </a:solidFill>
                <a:latin typeface="Segoe UI"/>
              </a:rPr>
              <a:t>16 soruyla kalibre edildi; VE kapısı (slayt 6)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5266944"/>
            <a:ext cx="1082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6" y="5266944"/>
            <a:ext cx="290866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4171C"/>
                </a:solidFill>
                <a:latin typeface="Consolas"/>
              </a:rPr>
              <a:t>max_tool_turns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05358" y="5266944"/>
            <a:ext cx="218730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4171C"/>
                </a:solidFill>
                <a:latin typeface="Consolas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75540" y="5266944"/>
            <a:ext cx="517579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A5058"/>
                </a:solidFill>
                <a:latin typeface="Segoe UI"/>
              </a:rPr>
              <a:t>Araç döngüsü sınırı; dolduğunda cevap yine isteniyor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01 · RAG Ajanı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2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5F75"/>
                </a:solidFill>
                <a:latin typeface="Consolas"/>
              </a:rPr>
              <a:t>01 · A  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CHUNKING STRATEJISI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77824"/>
            <a:ext cx="10820400" cy="9525"/>
          </a:xfrm>
          <a:prstGeom prst="rect">
            <a:avLst/>
          </a:prstGeom>
          <a:solidFill>
            <a:srgbClr val="DE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24128"/>
            <a:ext cx="1082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171C"/>
                </a:solidFill>
                <a:latin typeface="Georgia"/>
              </a:rPr>
              <a:t>Sabit pencere değil, belge tipine göre parçalama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9326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4A5058"/>
                </a:solidFill>
                <a:latin typeface="Segoe UI"/>
              </a:rPr>
              <a:t>Tek bir chunking kuralı bu korpusta çalışmıyor: bir SSS satırı ile bir KÜB bölümü farklı şeyler. Parçalama </a:t>
            </a:r>
            <a:r>
              <a:rPr sz="1400" b="1" i="0">
                <a:solidFill>
                  <a:srgbClr val="14171C"/>
                </a:solidFill>
                <a:latin typeface="Segoe UI"/>
              </a:rPr>
              <a:t>belge tipine göre</a:t>
            </a:r>
            <a:r>
              <a:rPr sz="1400" b="0" i="0">
                <a:solidFill>
                  <a:srgbClr val="4A5058"/>
                </a:solidFill>
                <a:latin typeface="Segoe UI"/>
              </a:rPr>
              <a:t> ayrışıyor — </a:t>
            </a:r>
            <a:r>
              <a:rPr sz="1250" b="0" i="0">
                <a:solidFill>
                  <a:srgbClr val="4A5058"/>
                </a:solidFill>
                <a:latin typeface="Consolas"/>
              </a:rPr>
              <a:t>chunker.py:chunk_sections</a:t>
            </a:r>
            <a:r>
              <a:rPr sz="1400" b="0" i="0">
                <a:solidFill>
                  <a:srgbClr val="4A5058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05456"/>
            <a:ext cx="3423920" cy="15910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743200"/>
            <a:ext cx="2948432" cy="11155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858C96"/>
                </a:solidFill>
                <a:latin typeface="Consolas"/>
              </a:rPr>
              <a:t>XLSX — ATOMIK SATIR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00" b="0" i="0">
                <a:solidFill>
                  <a:srgbClr val="4A5058"/>
                </a:solidFill>
                <a:latin typeface="Segoe UI"/>
              </a:rPr>
              <a:t>Satır </a:t>
            </a:r>
            <a:r>
              <a:rPr sz="1100" b="1" i="0">
                <a:solidFill>
                  <a:srgbClr val="14171C"/>
                </a:solidFill>
                <a:latin typeface="Segoe UI"/>
              </a:rPr>
              <a:t>hiç bölünmüyor</a:t>
            </a:r>
            <a:r>
              <a:rPr sz="1100" b="0" i="0">
                <a:solidFill>
                  <a:srgbClr val="4A5058"/>
                </a:solidFill>
                <a:latin typeface="Segoe UI"/>
              </a:rPr>
              <a:t>. Bir SSS satırı zaten kendi içinde tam bir soru-cevap çifti; bölmek soruyu cevabından ayırırdı.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4A5058"/>
                </a:solidFill>
                <a:latin typeface="Consolas"/>
              </a:rPr>
              <a:t>145 satır → 145 parça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4040" y="2505456"/>
            <a:ext cx="3423920" cy="15910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1784" y="2743200"/>
            <a:ext cx="2948432" cy="11155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858C96"/>
                </a:solidFill>
                <a:latin typeface="Consolas"/>
              </a:rPr>
              <a:t>PDF / DOCX — PARAGRAF SINIRI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00" b="0" i="0">
                <a:solidFill>
                  <a:srgbClr val="4A5058"/>
                </a:solidFill>
                <a:latin typeface="Segoe UI"/>
              </a:rPr>
              <a:t>Önce </a:t>
            </a:r>
            <a:r>
              <a:rPr sz="1000" b="0" i="0">
                <a:solidFill>
                  <a:srgbClr val="4A5058"/>
                </a:solidFill>
                <a:latin typeface="Consolas"/>
              </a:rPr>
              <a:t>\n\n</a:t>
            </a:r>
            <a:r>
              <a:rPr sz="1100" b="0" i="0">
                <a:solidFill>
                  <a:srgbClr val="4A5058"/>
                </a:solidFill>
                <a:latin typeface="Segoe UI"/>
              </a:rPr>
              <a:t> sınırlarında birleştiriliyor, 1200 karakteri aşmadan.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00" b="0" i="0">
                <a:solidFill>
                  <a:srgbClr val="4A5058"/>
                </a:solidFill>
                <a:latin typeface="Segoe UI"/>
              </a:rPr>
              <a:t>Tek paragraf 1200'ü aşarsa </a:t>
            </a:r>
            <a:r>
              <a:rPr sz="1000" b="0" i="0">
                <a:solidFill>
                  <a:srgbClr val="4A5058"/>
                </a:solidFill>
                <a:latin typeface="Consolas"/>
              </a:rPr>
              <a:t>_hard_split</a:t>
            </a:r>
            <a:r>
              <a:rPr sz="1100" b="0" i="0">
                <a:solidFill>
                  <a:srgbClr val="4A5058"/>
                </a:solidFill>
                <a:latin typeface="Segoe UI"/>
              </a:rPr>
              <a:t>: cümle sonu aranıyor, yoksa sert kesim.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2280" y="2505456"/>
            <a:ext cx="3423920" cy="15910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0024" y="2743200"/>
            <a:ext cx="2948432" cy="11155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858C96"/>
                </a:solidFill>
                <a:latin typeface="Consolas"/>
              </a:rPr>
              <a:t>DOCX TABLOLARI → MARKDOWN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00" b="0" i="0">
                <a:solidFill>
                  <a:srgbClr val="4A5058"/>
                </a:solidFill>
                <a:latin typeface="Segoe UI"/>
              </a:rPr>
              <a:t>Tablolar Markdown'a çevrilip ait olduğu bölüme ekleniyor.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00" b="0" i="0">
                <a:solidFill>
                  <a:srgbClr val="4A5058"/>
                </a:solidFill>
                <a:latin typeface="Segoe UI"/>
              </a:rPr>
              <a:t>Kritik: </a:t>
            </a:r>
            <a:r>
              <a:rPr sz="1000" b="0" i="0">
                <a:solidFill>
                  <a:srgbClr val="4A5058"/>
                </a:solidFill>
                <a:latin typeface="Consolas"/>
              </a:rPr>
              <a:t>document.paragraphs</a:t>
            </a:r>
            <a:r>
              <a:rPr sz="1100" b="0" i="0">
                <a:solidFill>
                  <a:srgbClr val="4A5058"/>
                </a:solidFill>
                <a:latin typeface="Segoe UI"/>
              </a:rPr>
              <a:t> tabloları atlıyor — </a:t>
            </a:r>
            <a:r>
              <a:rPr sz="1000" b="0" i="0">
                <a:solidFill>
                  <a:srgbClr val="4A5058"/>
                </a:solidFill>
                <a:latin typeface="Consolas"/>
              </a:rPr>
              <a:t>element.body</a:t>
            </a:r>
            <a:r>
              <a:rPr sz="1100" b="0" i="0">
                <a:solidFill>
                  <a:srgbClr val="4A5058"/>
                </a:solidFill>
                <a:latin typeface="Segoe UI"/>
              </a:rPr>
              <a:t> ile geziliyor.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261104"/>
            <a:ext cx="10820400" cy="1225296"/>
          </a:xfrm>
          <a:prstGeom prst="rect">
            <a:avLst/>
          </a:prstGeom>
          <a:solidFill>
            <a:srgbClr val="F5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261104"/>
            <a:ext cx="41148" cy="1225296"/>
          </a:xfrm>
          <a:prstGeom prst="rect">
            <a:avLst/>
          </a:prstGeom>
          <a:solidFill>
            <a:srgbClr val="9A6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4425696"/>
            <a:ext cx="10290048" cy="9326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i="0">
                <a:solidFill>
                  <a:srgbClr val="14171C"/>
                </a:solidFill>
                <a:latin typeface="Segoe UI"/>
              </a:rPr>
              <a:t>Aranan metin ile gösterilen metin ayrı. </a:t>
            </a:r>
            <a:r>
              <a:rPr sz="1200" b="0" i="0">
                <a:solidFill>
                  <a:srgbClr val="4A5058"/>
                </a:solidFill>
                <a:latin typeface="Segoe UI"/>
              </a:rPr>
              <a:t>Her parçanın iki alanı var: </a:t>
            </a:r>
            <a:r>
              <a:rPr sz="1100" b="0" i="0">
                <a:solidFill>
                  <a:srgbClr val="4A5058"/>
                </a:solidFill>
                <a:latin typeface="Consolas"/>
              </a:rPr>
              <a:t>text</a:t>
            </a:r>
            <a:r>
              <a:rPr sz="1200" b="0" i="0">
                <a:solidFill>
                  <a:srgbClr val="4A5058"/>
                </a:solidFill>
                <a:latin typeface="Segoe UI"/>
              </a:rPr>
              <a:t> (kullanıcıya gösterilen) ve </a:t>
            </a:r>
            <a:r>
              <a:rPr sz="1100" b="0" i="0">
                <a:solidFill>
                  <a:srgbClr val="4A5058"/>
                </a:solidFill>
                <a:latin typeface="Consolas"/>
              </a:rPr>
              <a:t>search_text</a:t>
            </a:r>
            <a:r>
              <a:rPr sz="1200" b="0" i="0">
                <a:solidFill>
                  <a:srgbClr val="4A5058"/>
                </a:solidFill>
                <a:latin typeface="Segoe UI"/>
              </a:rPr>
              <a:t> (indekslenen). İkincisine bölüm başlığı hiyerarşisi ekleniyor.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4A5058"/>
                </a:solidFill>
                <a:latin typeface="Segoe UI"/>
              </a:rPr>
              <a:t>Neden: KÜB bölüm 4.3'ün </a:t>
            </a:r>
            <a:r>
              <a:rPr sz="1200" b="1" i="0">
                <a:solidFill>
                  <a:srgbClr val="14171C"/>
                </a:solidFill>
                <a:latin typeface="Segoe UI"/>
              </a:rPr>
              <a:t>başlığı</a:t>
            </a:r>
            <a:r>
              <a:rPr sz="1200" b="0" i="0">
                <a:solidFill>
                  <a:srgbClr val="4A5058"/>
                </a:solidFill>
                <a:latin typeface="Segoe UI"/>
              </a:rPr>
              <a:t> "Kontrendikasyonlar" ama bu kelime gövdede hiç geçmiyor — başlık eklenmeden o bölüm hiçbir sorguyla bulunamıyordu.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632704"/>
            <a:ext cx="1082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A5058"/>
                </a:solidFill>
                <a:latin typeface="Segoe UI"/>
              </a:rPr>
              <a:t>Atıf etiketi de burada üretiliyor: </a:t>
            </a:r>
            <a:r>
              <a:rPr sz="1000" b="0" i="0">
                <a:solidFill>
                  <a:srgbClr val="4A5058"/>
                </a:solidFill>
                <a:latin typeface="Consolas"/>
              </a:rPr>
              <a:t>calisan_sss_rehberi.xlsx — SSS, satır 4</a:t>
            </a:r>
            <a:r>
              <a:rPr sz="1150" b="0" i="0">
                <a:solidFill>
                  <a:srgbClr val="4A5058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4A5058"/>
                </a:solidFill>
                <a:latin typeface="Consolas"/>
              </a:rPr>
              <a:t>Aksef KÜB — Bölüm 4.3 …, s.7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01 · RAG Ajanı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3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5F75"/>
                </a:solidFill>
                <a:latin typeface="Consolas"/>
              </a:rPr>
              <a:t>01 · B  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EMBEDDING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77824"/>
            <a:ext cx="10820400" cy="9525"/>
          </a:xfrm>
          <a:prstGeom prst="rect">
            <a:avLst/>
          </a:prstGeom>
          <a:solidFill>
            <a:srgbClr val="DE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24128"/>
            <a:ext cx="1082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171C"/>
                </a:solidFill>
                <a:latin typeface="Georgia"/>
              </a:rPr>
              <a:t>Yerelde e5-base, bulutta Azure OpenAI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9326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4A5058"/>
                </a:solidFill>
                <a:latin typeface="Segoe UI"/>
              </a:rPr>
              <a:t>İki dağıtım iki farklı embedding modeli kullanıyor ve bu değiştirilebilir bir katman — </a:t>
            </a:r>
            <a:r>
              <a:rPr sz="1250" b="0" i="0">
                <a:solidFill>
                  <a:srgbClr val="4A5058"/>
                </a:solidFill>
                <a:latin typeface="Consolas"/>
              </a:rPr>
              <a:t>Embedder</a:t>
            </a:r>
            <a:r>
              <a:rPr sz="1400" b="0" i="0">
                <a:solidFill>
                  <a:srgbClr val="4A5058"/>
                </a:solidFill>
                <a:latin typeface="Segoe UI"/>
              </a:rPr>
              <a:t> protokolü altında. Model değişince eşiklerin yeniden kalibre edilmesi gerekiyor.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487168"/>
            <a:ext cx="10820400" cy="310896"/>
          </a:xfrm>
          <a:prstGeom prst="rect">
            <a:avLst/>
          </a:prstGeom>
          <a:solidFill>
            <a:srgbClr val="F2F0EA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487168"/>
            <a:ext cx="208425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0947" y="2487168"/>
            <a:ext cx="40422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BÖLÜM 1 — YEREL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6055" y="2487168"/>
            <a:ext cx="41452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BÖLÜM 3 — AZURE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798064"/>
            <a:ext cx="1082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798064"/>
            <a:ext cx="208425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A5058"/>
                </a:solidFill>
                <a:latin typeface="Segoe UI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0947" y="2798064"/>
            <a:ext cx="404222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4171C"/>
                </a:solidFill>
                <a:latin typeface="Consolas"/>
              </a:rPr>
              <a:t>intfloat/multilingual-e5-base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6055" y="2798064"/>
            <a:ext cx="4145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4171C"/>
                </a:solidFill>
                <a:latin typeface="Consolas"/>
              </a:rPr>
              <a:t>text-embedding-3-small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090672"/>
            <a:ext cx="1082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3090672"/>
            <a:ext cx="208425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A5058"/>
                </a:solidFill>
                <a:latin typeface="Segoe UI"/>
              </a:rPr>
              <a:t>Boyut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0947" y="3090672"/>
            <a:ext cx="404222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4171C"/>
                </a:solidFill>
                <a:latin typeface="Consolas"/>
              </a:rPr>
              <a:t>768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6055" y="3090672"/>
            <a:ext cx="4145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4171C"/>
                </a:solidFill>
                <a:latin typeface="Consolas"/>
              </a:rPr>
              <a:t>1536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383280"/>
            <a:ext cx="1082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3383280"/>
            <a:ext cx="208425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A5058"/>
                </a:solidFill>
                <a:latin typeface="Segoe UI"/>
              </a:rPr>
              <a:t>Nerede çalışır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0947" y="3383280"/>
            <a:ext cx="404222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A5058"/>
                </a:solidFill>
                <a:latin typeface="Segoe UI"/>
              </a:rPr>
              <a:t>Süreç içinde, ~1,1 GB indirme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6055" y="3383280"/>
            <a:ext cx="4145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A5058"/>
                </a:solidFill>
                <a:latin typeface="Segoe UI"/>
              </a:rPr>
              <a:t>HTTP, 64'lük batch + retry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675888"/>
            <a:ext cx="1082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3675888"/>
            <a:ext cx="208425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A5058"/>
                </a:solidFill>
                <a:latin typeface="Segoe UI"/>
              </a:rPr>
              <a:t>Önek şeması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80947" y="3675888"/>
            <a:ext cx="404222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4171C"/>
                </a:solidFill>
                <a:latin typeface="Consolas"/>
              </a:rPr>
              <a:t>passage: </a:t>
            </a:r>
            <a:r>
              <a:rPr sz="1150" b="0" i="0">
                <a:solidFill>
                  <a:srgbClr val="4A5058"/>
                </a:solidFill>
                <a:latin typeface="Segoe UI"/>
              </a:rPr>
              <a:t>/ </a:t>
            </a:r>
            <a:r>
              <a:rPr sz="1300" b="0" i="0">
                <a:solidFill>
                  <a:srgbClr val="14171C"/>
                </a:solidFill>
                <a:latin typeface="Consolas"/>
              </a:rPr>
              <a:t>query: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06055" y="3675888"/>
            <a:ext cx="4145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C4A3C"/>
                </a:solidFill>
                <a:latin typeface="Segoe UI"/>
              </a:rPr>
              <a:t>yok — e5 artefaktı, literal token olurdu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3968496"/>
            <a:ext cx="1082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" y="3968496"/>
            <a:ext cx="208425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A5058"/>
                </a:solidFill>
                <a:latin typeface="Segoe UI"/>
              </a:rPr>
              <a:t>Normalizasyon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80947" y="3968496"/>
            <a:ext cx="404222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A5058"/>
                </a:solidFill>
                <a:latin typeface="Segoe UI"/>
              </a:rPr>
              <a:t>Model normalize ediyor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06055" y="3968496"/>
            <a:ext cx="4145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A5058"/>
                </a:solidFill>
                <a:latin typeface="Segoe UI"/>
              </a:rPr>
              <a:t>Elle L2 — Azure birim vektör döndürmüyor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261104"/>
            <a:ext cx="10820400" cy="1517904"/>
          </a:xfrm>
          <a:prstGeom prst="rect">
            <a:avLst/>
          </a:prstGeom>
          <a:solidFill>
            <a:srgbClr val="F7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4261104"/>
            <a:ext cx="41148" cy="1517904"/>
          </a:xfrm>
          <a:prstGeom prst="rect">
            <a:avLst/>
          </a:prstGeom>
          <a:solidFill>
            <a:srgbClr val="9C4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256" y="4425696"/>
            <a:ext cx="10290048" cy="1225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 i="0">
                <a:solidFill>
                  <a:srgbClr val="14171C"/>
                </a:solidFill>
                <a:latin typeface="Segoe UI"/>
              </a:rPr>
              <a:t>İki davranış taşıyıcı, "sadeleştirilemez": 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 i="0">
                <a:solidFill>
                  <a:srgbClr val="9A6A22"/>
                </a:solidFill>
                <a:latin typeface="Consolas"/>
              </a:rPr>
              <a:t>1 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Vektörler </a:t>
            </a:r>
            <a:r>
              <a:rPr sz="1250" b="1" i="0">
                <a:solidFill>
                  <a:srgbClr val="14171C"/>
                </a:solidFill>
                <a:latin typeface="Segoe UI"/>
              </a:rPr>
              <a:t>L2 normalize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ediliyor. Chroma 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hnsw:space=cosine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ile kurulu ve retriever benzerliği 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1.0 − distance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olarak okuyor — bu yalnız birim vektörlerde kosinüse eşittir.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 i="0">
                <a:solidFill>
                  <a:srgbClr val="9A6A22"/>
                </a:solidFill>
                <a:latin typeface="Consolas"/>
              </a:rPr>
              <a:t>2 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Azure tarafında 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passage: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/ 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query: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öneki </a:t>
            </a:r>
            <a:r>
              <a:rPr sz="1250" b="1" i="0">
                <a:solidFill>
                  <a:srgbClr val="14171C"/>
                </a:solidFill>
                <a:latin typeface="Segoe UI"/>
              </a:rPr>
              <a:t>hiç eklenmiyor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. Bunlar e5'in eğitim artefaktı; 3-small'a gönderilseydi anlamı seyrelten literal token olurlardı.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01 · RAG Ajanı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4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5F75"/>
                </a:solidFill>
                <a:latin typeface="Consolas"/>
              </a:rPr>
              <a:t>01 · C  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RETRIEVAL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77824"/>
            <a:ext cx="10820400" cy="9525"/>
          </a:xfrm>
          <a:prstGeom prst="rect">
            <a:avLst/>
          </a:prstGeom>
          <a:solidFill>
            <a:srgbClr val="DE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24128"/>
            <a:ext cx="1082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171C"/>
                </a:solidFill>
                <a:latin typeface="Georgia"/>
              </a:rPr>
              <a:t>Hibrit arama: kosinüs + BM25, RRF ile füzyon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10512"/>
            <a:ext cx="10820400" cy="1600200"/>
          </a:xfrm>
          <a:prstGeom prst="roundRect">
            <a:avLst>
              <a:gd name="adj" fmla="val 4000"/>
            </a:avLst>
          </a:prstGeom>
          <a:solidFill>
            <a:srgbClr val="F2F0EA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965960"/>
            <a:ext cx="10381488" cy="1289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 i="0">
                <a:solidFill>
                  <a:srgbClr val="858C96"/>
                </a:solidFill>
                <a:latin typeface="Consolas"/>
              </a:rPr>
              <a:t># 1) iki ranker bağımsız çalışır, her biri 20 aday döndürür</a:t>
            </a:r>
          </a:p>
          <a:p>
            <a:pPr algn="l">
              <a:lnSpc>
                <a:spcPct val="114000"/>
              </a:lnSpc>
            </a:pPr>
            <a:r>
              <a:rPr sz="1150" b="0" i="0">
                <a:solidFill>
                  <a:srgbClr val="4A5058"/>
                </a:solidFill>
                <a:latin typeface="Consolas"/>
              </a:rPr>
              <a:t>dense_ids,   cosines     = collection.query(q_vec, n_results=</a:t>
            </a:r>
            <a:r>
              <a:rPr sz="1150" b="0" i="0">
                <a:solidFill>
                  <a:srgbClr val="9C4A3C"/>
                </a:solidFill>
                <a:latin typeface="Consolas"/>
              </a:rPr>
              <a:t>20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)   </a:t>
            </a:r>
            <a:r>
              <a:rPr sz="1150" b="0" i="0">
                <a:solidFill>
                  <a:srgbClr val="858C96"/>
                </a:solidFill>
                <a:latin typeface="Consolas"/>
              </a:rPr>
              <a:t># HNSW, cosine uzayı</a:t>
            </a:r>
          </a:p>
          <a:p>
            <a:pPr algn="l">
              <a:lnSpc>
                <a:spcPct val="114000"/>
              </a:lnSpc>
            </a:pPr>
            <a:r>
              <a:rPr sz="1150" b="0" i="0">
                <a:solidFill>
                  <a:srgbClr val="4A5058"/>
                </a:solidFill>
                <a:latin typeface="Consolas"/>
              </a:rPr>
              <a:t>lexical_ids, bm25_scores = bm25.get_scores(bm25_tokens(q))[:</a:t>
            </a:r>
            <a:r>
              <a:rPr sz="1150" b="0" i="0">
                <a:solidFill>
                  <a:srgbClr val="9C4A3C"/>
                </a:solidFill>
                <a:latin typeface="Consolas"/>
              </a:rPr>
              <a:t>20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]</a:t>
            </a:r>
          </a:p>
          <a:p>
            <a:pPr algn="l">
              <a:lnSpc>
                <a:spcPct val="114000"/>
              </a:lnSpc>
            </a:pPr>
            <a:r>
              <a:rPr sz="1150" b="0" i="0">
                <a:solidFill>
                  <a:srgbClr val="4A5058"/>
                </a:solidFill>
                <a:latin typeface="Consolas"/>
              </a:rPr>
              <a:t/>
            </a:r>
          </a:p>
          <a:p>
            <a:pPr algn="l">
              <a:lnSpc>
                <a:spcPct val="114000"/>
              </a:lnSpc>
            </a:pPr>
            <a:r>
              <a:rPr sz="1150" b="0" i="0">
                <a:solidFill>
                  <a:srgbClr val="858C96"/>
                </a:solidFill>
                <a:latin typeface="Consolas"/>
              </a:rPr>
              <a:t># 2) füzyon skorları değil SIRALARI birleştirir</a:t>
            </a:r>
          </a:p>
          <a:p>
            <a:pPr algn="l">
              <a:lnSpc>
                <a:spcPct val="114000"/>
              </a:lnSpc>
            </a:pPr>
            <a:r>
              <a:rPr sz="1150" b="0" i="0">
                <a:solidFill>
                  <a:srgbClr val="4A5058"/>
                </a:solidFill>
                <a:latin typeface="Consolas"/>
              </a:rPr>
              <a:t>fused[id] = Σ  </a:t>
            </a:r>
            <a:r>
              <a:rPr sz="1150" b="0" i="0">
                <a:solidFill>
                  <a:srgbClr val="2B5F75"/>
                </a:solidFill>
                <a:latin typeface="Consolas"/>
              </a:rPr>
              <a:t>1 / (k + rank + 1)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     k = </a:t>
            </a:r>
            <a:r>
              <a:rPr sz="1150" b="0" i="0">
                <a:solidFill>
                  <a:srgbClr val="9C4A3C"/>
                </a:solidFill>
                <a:latin typeface="Consolas"/>
              </a:rPr>
              <a:t>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91840"/>
            <a:ext cx="522732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3529584"/>
            <a:ext cx="4751832" cy="8046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858C96"/>
                </a:solidFill>
                <a:latin typeface="Consolas"/>
              </a:rPr>
              <a:t>NEDEN RRF — SKOR TOPLAMI DEĞIL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 i="0">
                <a:solidFill>
                  <a:srgbClr val="4A5058"/>
                </a:solidFill>
                <a:latin typeface="Segoe UI"/>
              </a:rPr>
              <a:t>Kosinüs 0–1 bandında, BM25 sınırsız. Ham skorları toplamak BM25'in ölçeğine teslim olmak demek.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 i="0">
                <a:solidFill>
                  <a:srgbClr val="4A5058"/>
                </a:solidFill>
                <a:latin typeface="Segoe UI"/>
              </a:rPr>
              <a:t>RRF yalnız </a:t>
            </a:r>
            <a:r>
              <a:rPr sz="1150" b="1" i="0">
                <a:solidFill>
                  <a:srgbClr val="14171C"/>
                </a:solidFill>
                <a:latin typeface="Segoe UI"/>
              </a:rPr>
              <a:t>sıra</a:t>
            </a:r>
            <a:r>
              <a:rPr sz="1150" b="0" i="0">
                <a:solidFill>
                  <a:srgbClr val="4A5058"/>
                </a:solidFill>
                <a:latin typeface="Segoe UI"/>
              </a:rPr>
              <a:t> kullanır — iki ranker'ın ölçekleri hiç karşılaştırılmaz.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880" y="3291840"/>
            <a:ext cx="522732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6624" y="3529584"/>
            <a:ext cx="4751832" cy="8046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858C96"/>
                </a:solidFill>
                <a:latin typeface="Consolas"/>
              </a:rPr>
              <a:t>ÖLÇÜLEN SINIRI: FÜZYON KÖR RANKER'I KURTARMAZ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 i="0">
                <a:solidFill>
                  <a:srgbClr val="4A5058"/>
                </a:solidFill>
                <a:latin typeface="Segoe UI"/>
              </a:rPr>
              <a:t>KÜB 4.3 en yüksek kosinüse sahipken (</a:t>
            </a:r>
            <a:r>
              <a:rPr sz="1150" b="1" i="0">
                <a:solidFill>
                  <a:srgbClr val="9A6A22"/>
                </a:solidFill>
                <a:latin typeface="Consolas"/>
              </a:rPr>
              <a:t>0,828</a:t>
            </a:r>
            <a:r>
              <a:rPr sz="1150" b="0" i="0">
                <a:solidFill>
                  <a:srgbClr val="4A5058"/>
                </a:solidFill>
                <a:latin typeface="Segoe UI"/>
              </a:rPr>
              <a:t>) BM25 desteği </a:t>
            </a:r>
            <a:r>
              <a:rPr sz="1150" b="1" i="0">
                <a:solidFill>
                  <a:srgbClr val="9A6A22"/>
                </a:solidFill>
                <a:latin typeface="Consolas"/>
              </a:rPr>
              <a:t>0,00</a:t>
            </a:r>
            <a:r>
              <a:rPr sz="1150" b="0" i="0">
                <a:solidFill>
                  <a:srgbClr val="4A5058"/>
                </a:solidFill>
                <a:latin typeface="Segoe UI"/>
              </a:rPr>
              <a:t> olduğu için 3. sıraya düşüyordu.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 i="0">
                <a:solidFill>
                  <a:srgbClr val="4A5058"/>
                </a:solidFill>
                <a:latin typeface="Segoe UI"/>
              </a:rPr>
              <a:t>Düzeltme füzyonda değil, </a:t>
            </a:r>
            <a:r>
              <a:rPr sz="1050" b="0" i="0">
                <a:solidFill>
                  <a:srgbClr val="4A5058"/>
                </a:solidFill>
                <a:latin typeface="Consolas"/>
              </a:rPr>
              <a:t>bm25_tokens</a:t>
            </a:r>
            <a:r>
              <a:rPr sz="1150" b="0" i="0">
                <a:solidFill>
                  <a:srgbClr val="4A5058"/>
                </a:solidFill>
                <a:latin typeface="Segoe UI"/>
              </a:rPr>
              <a:t>'da oldu (slayt 6).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718304"/>
            <a:ext cx="10820400" cy="1005840"/>
          </a:xfrm>
          <a:prstGeom prst="rect">
            <a:avLst/>
          </a:prstGeom>
          <a:solidFill>
            <a:srgbClr val="E4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718304"/>
            <a:ext cx="41148" cy="1005840"/>
          </a:xfrm>
          <a:prstGeom prst="rect">
            <a:avLst/>
          </a:prstGeom>
          <a:solidFill>
            <a:srgbClr val="2B5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4882896"/>
            <a:ext cx="10290048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 i="0">
                <a:solidFill>
                  <a:srgbClr val="14171C"/>
                </a:solidFill>
                <a:latin typeface="Segoe UI"/>
              </a:rPr>
              <a:t>Benzerlik ölçüsü: kosinüs. 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Chroma </a:t>
            </a:r>
            <a:r>
              <a:rPr sz="1200" b="0" i="0">
                <a:solidFill>
                  <a:srgbClr val="4A5058"/>
                </a:solidFill>
                <a:latin typeface="Consolas"/>
              </a:rPr>
              <a:t>hnsw:space=cosine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ile kuruluyor, mesafe </a:t>
            </a:r>
            <a:r>
              <a:rPr sz="1200" b="0" i="0">
                <a:solidFill>
                  <a:srgbClr val="4A5058"/>
                </a:solidFill>
                <a:latin typeface="Consolas"/>
              </a:rPr>
              <a:t>1 − cos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olarak dönüyor ve retriever </a:t>
            </a:r>
            <a:r>
              <a:rPr sz="1200" b="0" i="0">
                <a:solidFill>
                  <a:srgbClr val="4A5058"/>
                </a:solidFill>
                <a:latin typeface="Consolas"/>
              </a:rPr>
              <a:t>cosine = 1.0 − distance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ile geri çeviriyor.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4A5058"/>
                </a:solidFill>
                <a:latin typeface="Segoe UI"/>
              </a:rPr>
              <a:t>Yüklenen belgelerde HNSW yok — vektörler bellekte, kosinüs doğrudan nokta çarpımıyla hesaplanıyor (birim vektörler).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01 · RAG Ajanı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5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5F75"/>
                </a:solidFill>
                <a:latin typeface="Consolas"/>
              </a:rPr>
              <a:t>01 · D  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GÜVEN EŞIĞI KALIBRASYONU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77824"/>
            <a:ext cx="10820400" cy="9525"/>
          </a:xfrm>
          <a:prstGeom prst="rect">
            <a:avLst/>
          </a:prstGeom>
          <a:solidFill>
            <a:srgbClr val="DE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24128"/>
            <a:ext cx="1082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0" i="0">
                <a:solidFill>
                  <a:srgbClr val="14171C"/>
                </a:solidFill>
                <a:latin typeface="Georgia"/>
              </a:rPr>
              <a:t>"VEYA kapısı bu veride matematiksel olarak imkânsız"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4A5058"/>
                </a:solidFill>
                <a:latin typeface="Segoe UI"/>
              </a:rPr>
              <a:t>Konu dışı soruyu reddetmek için bir eşik lazım. Plan </a:t>
            </a:r>
            <a:r>
              <a:rPr sz="1250" b="0" i="0">
                <a:solidFill>
                  <a:srgbClr val="4A5058"/>
                </a:solidFill>
                <a:latin typeface="Consolas"/>
              </a:rPr>
              <a:t>MIN_COSINE = 0.72</a:t>
            </a:r>
            <a:r>
              <a:rPr sz="1400" b="0" i="0">
                <a:solidFill>
                  <a:srgbClr val="4A5058"/>
                </a:solidFill>
                <a:latin typeface="Segoe UI"/>
              </a:rPr>
              <a:t> diyordu. 10 geçerli + 6 konu dışı soruyla ölçtüm.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432304"/>
            <a:ext cx="10820400" cy="310896"/>
          </a:xfrm>
          <a:prstGeom prst="rect">
            <a:avLst/>
          </a:prstGeom>
          <a:solidFill>
            <a:srgbClr val="F2F0EA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432304"/>
            <a:ext cx="361888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5578" y="2432304"/>
            <a:ext cx="332643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KOSINÜS (ILK SONUÇ)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4896" y="2432304"/>
            <a:ext cx="332643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BM25 (ILK SONUÇ)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743200"/>
            <a:ext cx="10820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743200"/>
            <a:ext cx="361888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4171C"/>
                </a:solidFill>
                <a:latin typeface="Segoe UI"/>
              </a:rPr>
              <a:t>10 geçerli soru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5578" y="2743200"/>
            <a:ext cx="332643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4171C"/>
                </a:solidFill>
                <a:latin typeface="Consolas"/>
              </a:rPr>
              <a:t>0,811 – 0,874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4896" y="2743200"/>
            <a:ext cx="332643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4171C"/>
                </a:solidFill>
                <a:latin typeface="Consolas"/>
              </a:rPr>
              <a:t>7,51 – 21,55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054096"/>
            <a:ext cx="10820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3054096"/>
            <a:ext cx="361888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4171C"/>
                </a:solidFill>
                <a:latin typeface="Segoe UI"/>
              </a:rPr>
              <a:t>6 konu dışı soru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5578" y="3054096"/>
            <a:ext cx="332643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4171C"/>
                </a:solidFill>
                <a:latin typeface="Consolas"/>
              </a:rPr>
              <a:t>0,746 – </a:t>
            </a:r>
            <a:r>
              <a:rPr sz="1300" b="0" i="0">
                <a:solidFill>
                  <a:srgbClr val="9C4A3C"/>
                </a:solidFill>
                <a:latin typeface="Consolas"/>
              </a:rPr>
              <a:t>0,813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4896" y="3054096"/>
            <a:ext cx="332643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4171C"/>
                </a:solidFill>
                <a:latin typeface="Consolas"/>
              </a:rPr>
              <a:t>0,00 – </a:t>
            </a:r>
            <a:r>
              <a:rPr sz="1300" b="0" i="0">
                <a:solidFill>
                  <a:srgbClr val="9C4A3C"/>
                </a:solidFill>
                <a:latin typeface="Consolas"/>
              </a:rPr>
              <a:t>8,25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584448"/>
            <a:ext cx="10820400" cy="1188720"/>
          </a:xfrm>
          <a:prstGeom prst="rect">
            <a:avLst/>
          </a:prstGeom>
          <a:solidFill>
            <a:srgbClr val="F7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584448"/>
            <a:ext cx="41148" cy="1188720"/>
          </a:xfrm>
          <a:prstGeom prst="rect">
            <a:avLst/>
          </a:prstGeom>
          <a:solidFill>
            <a:srgbClr val="9C4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3749040"/>
            <a:ext cx="10290048" cy="8961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 i="0">
                <a:solidFill>
                  <a:srgbClr val="14171C"/>
                </a:solidFill>
                <a:latin typeface="Segoe UI"/>
              </a:rPr>
              <a:t>Bantlar çakışıyor. 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Konu dışı "Bana bir şiir yaz" kosinüs </a:t>
            </a:r>
            <a:r>
              <a:rPr sz="1300" b="1" i="0">
                <a:solidFill>
                  <a:srgbClr val="9A6A22"/>
                </a:solidFill>
                <a:latin typeface="Consolas"/>
              </a:rPr>
              <a:t>0,813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alıyor — en zayıf geçerli sorunun (</a:t>
            </a:r>
            <a:r>
              <a:rPr sz="1300" b="1" i="0">
                <a:solidFill>
                  <a:srgbClr val="9A6A22"/>
                </a:solidFill>
                <a:latin typeface="Consolas"/>
              </a:rPr>
              <a:t>0,811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) üstünde. Konu dışı "En sevdiğin film hangisi?" BM25 </a:t>
            </a:r>
            <a:r>
              <a:rPr sz="1300" b="1" i="0">
                <a:solidFill>
                  <a:srgbClr val="9A6A22"/>
                </a:solidFill>
                <a:latin typeface="Consolas"/>
              </a:rPr>
              <a:t>8,25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alıyor.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4A5058"/>
                </a:solidFill>
                <a:latin typeface="Segoe UI"/>
              </a:rPr>
              <a:t>Tek sinyalle: kosinüs eşiği &gt; 0,813 olmalı, ama o zaman BM25 eşiği ≤ 7,55 olmalı — o da 8,25'lik konu dışı soruyu içeri alır. </a:t>
            </a:r>
            <a:r>
              <a:rPr sz="1300" b="1" i="0">
                <a:solidFill>
                  <a:srgbClr val="14171C"/>
                </a:solidFill>
                <a:latin typeface="Segoe UI"/>
              </a:rPr>
              <a:t>Çözümsüz.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901184"/>
            <a:ext cx="5181600" cy="859536"/>
          </a:xfrm>
          <a:prstGeom prst="roundRect">
            <a:avLst>
              <a:gd name="adj" fmla="val 4000"/>
            </a:avLst>
          </a:prstGeom>
          <a:solidFill>
            <a:srgbClr val="F7E9E5"/>
          </a:solidFill>
          <a:ln w="12700">
            <a:solidFill>
              <a:srgbClr val="9C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5084064"/>
            <a:ext cx="4742688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950" b="0" i="0">
                <a:solidFill>
                  <a:srgbClr val="858C96"/>
                </a:solidFill>
                <a:latin typeface="Consolas"/>
              </a:rPr>
              <a:t>PLANDAKİ KURAL</a:t>
            </a:r>
          </a:p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50" b="1" i="0">
                <a:solidFill>
                  <a:srgbClr val="14171C"/>
                </a:solidFill>
                <a:latin typeface="Segoe UI"/>
              </a:rPr>
              <a:t>VEYA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— kosinüs veya BM25 yeterliyse geç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67400" y="4901184"/>
            <a:ext cx="457200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858C96"/>
                </a:solidFill>
                <a:latin typeface="Consola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4600" y="4901184"/>
            <a:ext cx="5181600" cy="859536"/>
          </a:xfrm>
          <a:prstGeom prst="roundRect">
            <a:avLst>
              <a:gd name="adj" fmla="val 4000"/>
            </a:avLst>
          </a:prstGeom>
          <a:solidFill>
            <a:srgbClr val="E6EFE8"/>
          </a:solidFill>
          <a:ln w="12700">
            <a:solidFill>
              <a:srgbClr val="3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44056" y="5084064"/>
            <a:ext cx="4742688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950" b="0" i="0">
                <a:solidFill>
                  <a:srgbClr val="858C96"/>
                </a:solidFill>
                <a:latin typeface="Consolas"/>
              </a:rPr>
              <a:t>ÖLÇÜMDEN ÇIKAN KURAL</a:t>
            </a:r>
          </a:p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50" b="1" i="0">
                <a:solidFill>
                  <a:srgbClr val="14171C"/>
                </a:solidFill>
                <a:latin typeface="Segoe UI"/>
              </a:rPr>
              <a:t>VE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— 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cos ≥ 0,80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ve 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bm25 ≥ 5,0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 →  10/10 geçti, 6/6 elendi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01 · RAG Ajanı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6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5F75"/>
                </a:solidFill>
                <a:latin typeface="Consolas"/>
              </a:rPr>
              <a:t>01 · E  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LANGGRAPH'I NASIL KULLANDIK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77824"/>
            <a:ext cx="10820400" cy="9525"/>
          </a:xfrm>
          <a:prstGeom prst="rect">
            <a:avLst/>
          </a:prstGeom>
          <a:solidFill>
            <a:srgbClr val="DE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24128"/>
            <a:ext cx="1082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171C"/>
                </a:solidFill>
                <a:latin typeface="Georgia"/>
              </a:rPr>
              <a:t>Ajan bir durum makinesi — 9 düğüm, koşullu kenarlar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9326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4A5058"/>
                </a:solidFill>
                <a:latin typeface="Segoe UI"/>
              </a:rPr>
              <a:t>Ham </a:t>
            </a:r>
            <a:r>
              <a:rPr sz="1250" b="0" i="0">
                <a:solidFill>
                  <a:srgbClr val="4A5058"/>
                </a:solidFill>
                <a:latin typeface="Consolas"/>
              </a:rPr>
              <a:t>while</a:t>
            </a:r>
            <a:r>
              <a:rPr sz="1400" b="0" i="0">
                <a:solidFill>
                  <a:srgbClr val="4A5058"/>
                </a:solidFill>
                <a:latin typeface="Segoe UI"/>
              </a:rPr>
              <a:t> döngüsü yerine </a:t>
            </a:r>
            <a:r>
              <a:rPr sz="1250" b="0" i="0">
                <a:solidFill>
                  <a:srgbClr val="4A5058"/>
                </a:solidFill>
                <a:latin typeface="Consolas"/>
              </a:rPr>
              <a:t>StateGraph</a:t>
            </a:r>
            <a:r>
              <a:rPr sz="1400" b="0" i="0">
                <a:solidFill>
                  <a:srgbClr val="4A5058"/>
                </a:solidFill>
                <a:latin typeface="Segoe UI"/>
              </a:rPr>
              <a:t>. Kazanç: güvenlik katmanlarının her biri ayrı bir düğüm, akış denetlenebilir ve ölçülebilir (ADR-011).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05456"/>
            <a:ext cx="5943600" cy="2674620"/>
          </a:xfrm>
          <a:prstGeom prst="roundRect">
            <a:avLst>
              <a:gd name="adj" fmla="val 4000"/>
            </a:avLst>
          </a:prstGeom>
          <a:solidFill>
            <a:srgbClr val="F2F0EA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660904"/>
            <a:ext cx="5504688" cy="23637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2B5F75"/>
                </a:solidFill>
                <a:latin typeface="Consolas"/>
              </a:rPr>
              <a:t>score_gate 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──(güvensiz)──▶ </a:t>
            </a:r>
            <a:r>
              <a:rPr sz="1100" b="0" i="0">
                <a:solidFill>
                  <a:srgbClr val="9C4A3C"/>
                </a:solidFill>
                <a:latin typeface="Consolas"/>
              </a:rPr>
              <a:t>refuse</a:t>
            </a:r>
          </a:p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858C96"/>
                </a:solidFill>
                <a:latin typeface="Consolas"/>
              </a:rPr>
              <a:t>    │ (güvenli)</a:t>
            </a:r>
          </a:p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858C96"/>
                </a:solidFill>
                <a:latin typeface="Consolas"/>
              </a:rPr>
              <a:t>    ▼</a:t>
            </a:r>
          </a:p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2B5F75"/>
                </a:solidFill>
                <a:latin typeface="Consolas"/>
              </a:rPr>
              <a:t>llm_turn 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──(araç çağrısı)──▶ </a:t>
            </a:r>
            <a:r>
              <a:rPr sz="1100" b="0" i="0">
                <a:solidFill>
                  <a:srgbClr val="2B5F75"/>
                </a:solidFill>
                <a:latin typeface="Consolas"/>
              </a:rPr>
              <a:t>run_tools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 ─┐</a:t>
            </a:r>
          </a:p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858C96"/>
                </a:solidFill>
                <a:latin typeface="Consolas"/>
              </a:rPr>
              <a:t>    │ ▲                             │</a:t>
            </a:r>
          </a:p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858C96"/>
                </a:solidFill>
                <a:latin typeface="Consolas"/>
              </a:rPr>
              <a:t>    │ └─── (bütçe: max_tool_turns) ─┘</a:t>
            </a:r>
          </a:p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858C96"/>
                </a:solidFill>
                <a:latin typeface="Consolas"/>
              </a:rPr>
              <a:t>    │ (araç çağırmadı) ▶ </a:t>
            </a:r>
            <a:r>
              <a:rPr sz="1100" b="0" i="0">
                <a:solidFill>
                  <a:srgbClr val="2B5F75"/>
                </a:solidFill>
                <a:latin typeface="Consolas"/>
              </a:rPr>
              <a:t>inject_context</a:t>
            </a:r>
          </a:p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858C96"/>
                </a:solidFill>
                <a:latin typeface="Consolas"/>
              </a:rPr>
              <a:t>    │ (boş tur / bütçe bitti) ▶ </a:t>
            </a:r>
            <a:r>
              <a:rPr sz="1100" b="0" i="0">
                <a:solidFill>
                  <a:srgbClr val="9C4A3C"/>
                </a:solidFill>
                <a:latin typeface="Consolas"/>
              </a:rPr>
              <a:t>final_answer</a:t>
            </a:r>
          </a:p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858C96"/>
                </a:solidFill>
                <a:latin typeface="Consolas"/>
              </a:rPr>
              <a:t>    ▼</a:t>
            </a:r>
          </a:p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2B5F75"/>
                </a:solidFill>
                <a:latin typeface="Consolas"/>
              </a:rPr>
              <a:t>citation_check 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──(atıf yok)──▶ </a:t>
            </a:r>
            <a:r>
              <a:rPr sz="1100" b="0" i="0">
                <a:solidFill>
                  <a:srgbClr val="2B5F75"/>
                </a:solidFill>
                <a:latin typeface="Consolas"/>
              </a:rPr>
              <a:t>repair 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▶ </a:t>
            </a:r>
            <a:r>
              <a:rPr sz="1100" b="0" i="0">
                <a:solidFill>
                  <a:srgbClr val="9C4A3C"/>
                </a:solidFill>
                <a:latin typeface="Consolas"/>
              </a:rPr>
              <a:t>no_info</a:t>
            </a:r>
          </a:p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858C96"/>
                </a:solidFill>
                <a:latin typeface="Consolas"/>
              </a:rPr>
              <a:t>    │ (atıflı)  ▼ </a:t>
            </a:r>
            <a:r>
              <a:rPr sz="1100" b="0" i="0">
                <a:solidFill>
                  <a:srgbClr val="3F6B4A"/>
                </a:solidFill>
                <a:latin typeface="Consolas"/>
              </a:rPr>
              <a:t>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2505456"/>
            <a:ext cx="4602480" cy="1133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41464" y="2743200"/>
            <a:ext cx="4126992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858C96"/>
                </a:solidFill>
                <a:latin typeface="Consolas"/>
              </a:rPr>
              <a:t>DURUM: TYPEDDICT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4A5058"/>
                </a:solidFill>
                <a:latin typeface="Consolas"/>
              </a:rPr>
              <a:t>messages · tool_outputs · trace</a:t>
            </a:r>
            <a:r>
              <a:rPr sz="1100" b="0" i="0">
                <a:solidFill>
                  <a:srgbClr val="4A5058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4A5058"/>
                </a:solidFill>
                <a:latin typeface="Consolas"/>
              </a:rPr>
              <a:t>citations · turns · usage</a:t>
            </a:r>
            <a:r>
              <a:rPr sz="1100" b="0" i="0">
                <a:solidFill>
                  <a:srgbClr val="4A5058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4A5058"/>
                </a:solidFill>
                <a:latin typeface="Consolas"/>
              </a:rPr>
              <a:t>gate_passed · repaired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3767328"/>
            <a:ext cx="4602480" cy="1024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41464" y="4005072"/>
            <a:ext cx="4126992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858C96"/>
                </a:solidFill>
                <a:latin typeface="Consolas"/>
              </a:rPr>
              <a:t>KOŞULLU KENARLAR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4A5058"/>
                </a:solidFill>
                <a:latin typeface="Consolas"/>
              </a:rPr>
              <a:t>after_gate</a:t>
            </a:r>
            <a:r>
              <a:rPr sz="1100" b="0" i="0">
                <a:solidFill>
                  <a:srgbClr val="4A5058"/>
                </a:solidFill>
                <a:latin typeface="Segoe UI"/>
              </a:rPr>
              <a:t> · </a:t>
            </a:r>
            <a:r>
              <a:rPr sz="1000" b="0" i="0">
                <a:solidFill>
                  <a:srgbClr val="4A5058"/>
                </a:solidFill>
                <a:latin typeface="Consolas"/>
              </a:rPr>
              <a:t>after_llm</a:t>
            </a:r>
            <a:r>
              <a:rPr sz="1100" b="0" i="0">
                <a:solidFill>
                  <a:srgbClr val="4A5058"/>
                </a:solidFill>
                <a:latin typeface="Segoe UI"/>
              </a:rPr>
              <a:t> · </a:t>
            </a:r>
            <a:r>
              <a:rPr sz="1000" b="0" i="0">
                <a:solidFill>
                  <a:srgbClr val="4A5058"/>
                </a:solidFill>
                <a:latin typeface="Consolas"/>
              </a:rPr>
              <a:t>after_tools</a:t>
            </a:r>
            <a:r>
              <a:rPr sz="1100" b="0" i="0">
                <a:solidFill>
                  <a:srgbClr val="4A5058"/>
                </a:solidFill>
                <a:latin typeface="Segoe UI"/>
              </a:rPr>
              <a:t> · </a:t>
            </a:r>
            <a:r>
              <a:rPr sz="1000" b="0" i="0">
                <a:solidFill>
                  <a:srgbClr val="4A5058"/>
                </a:solidFill>
                <a:latin typeface="Consolas"/>
              </a:rPr>
              <a:t>after_citation_check</a:t>
            </a:r>
            <a:r>
              <a:rPr sz="1100" b="0" i="0">
                <a:solidFill>
                  <a:srgbClr val="4A5058"/>
                </a:solidFill>
                <a:latin typeface="Segoe UI"/>
              </a:rPr>
              <a:t> — yönlendirme mantığı düğümlerden ayrı.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047488"/>
            <a:ext cx="10820400" cy="859536"/>
          </a:xfrm>
          <a:prstGeom prst="rect">
            <a:avLst/>
          </a:prstGeom>
          <a:solidFill>
            <a:srgbClr val="F5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5047488"/>
            <a:ext cx="41148" cy="859536"/>
          </a:xfrm>
          <a:prstGeom prst="rect">
            <a:avLst/>
          </a:prstGeom>
          <a:solidFill>
            <a:srgbClr val="9A6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5212080"/>
            <a:ext cx="10290048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 i="0">
                <a:solidFill>
                  <a:srgbClr val="14171C"/>
                </a:solidFill>
                <a:latin typeface="Segoe UI"/>
              </a:rPr>
              <a:t>Migrasyonun kanıtı: 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ajan LangGraph'a taşınırken 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tests/test_agent.py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dosyasının </a:t>
            </a:r>
            <a:r>
              <a:rPr sz="1250" b="1" i="0">
                <a:solidFill>
                  <a:srgbClr val="14171C"/>
                </a:solidFill>
                <a:latin typeface="Segoe UI"/>
              </a:rPr>
              <a:t>SHA256'sı değişmedi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— 8 davranış testi aynen geçti. Yani değişen iç yapıydı, sözleşme değil.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01 · RAG Ajanı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7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5F75"/>
                </a:solidFill>
                <a:latin typeface="Consolas"/>
              </a:rPr>
              <a:t>01 · F  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TOOL CALLING VE PROMPT TASARIMI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77824"/>
            <a:ext cx="10820400" cy="9525"/>
          </a:xfrm>
          <a:prstGeom prst="rect">
            <a:avLst/>
          </a:prstGeom>
          <a:solidFill>
            <a:srgbClr val="DE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24128"/>
            <a:ext cx="1082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171C"/>
                </a:solidFill>
                <a:latin typeface="Georgia"/>
              </a:rPr>
              <a:t>Üç tool, ve promptun ölçülmüş kırılganlığı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10512"/>
            <a:ext cx="10820400" cy="310896"/>
          </a:xfrm>
          <a:prstGeom prst="rect">
            <a:avLst/>
          </a:prstGeom>
          <a:solidFill>
            <a:srgbClr val="F2F0EA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810512"/>
            <a:ext cx="277741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74114" y="1810512"/>
            <a:ext cx="338989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PARAMETRELER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46887" y="1810512"/>
            <a:ext cx="41044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NE IŞE YARAR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21408"/>
            <a:ext cx="10820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2121408"/>
            <a:ext cx="277741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4171C"/>
                </a:solidFill>
                <a:latin typeface="Consolas"/>
              </a:rPr>
              <a:t>search_documents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4114" y="2121408"/>
            <a:ext cx="338989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Consolas"/>
              </a:rPr>
              <a:t>query, top_k≤10, source_filter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46887" y="2121408"/>
            <a:ext cx="41044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A5058"/>
                </a:solidFill>
                <a:latin typeface="Segoe UI"/>
              </a:rPr>
              <a:t>Hibrit arama; sonuçlar [1], [2] etiketli bloklar hâlinde döner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432304"/>
            <a:ext cx="10820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2432304"/>
            <a:ext cx="277741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4171C"/>
                </a:solidFill>
                <a:latin typeface="Consolas"/>
              </a:rPr>
              <a:t>lookup_section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4114" y="2432304"/>
            <a:ext cx="338989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Consolas"/>
              </a:rPr>
              <a:t>document, section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6887" y="2432304"/>
            <a:ext cx="41044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A5058"/>
                </a:solidFill>
                <a:latin typeface="Segoe UI"/>
              </a:rPr>
              <a:t>Bölüm no/başlığı biliniyorsa aramadan doğrudan erişim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743200"/>
            <a:ext cx="10820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2743200"/>
            <a:ext cx="277741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4171C"/>
                </a:solidFill>
                <a:latin typeface="Consolas"/>
              </a:rPr>
              <a:t>list_documents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4114" y="2743200"/>
            <a:ext cx="338989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Consolas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6887" y="2743200"/>
            <a:ext cx="41044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A5058"/>
                </a:solidFill>
                <a:latin typeface="Segoe UI"/>
              </a:rPr>
              <a:t>Bilgi tabanındaki belgeleri ve tiplerini listeler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72384"/>
            <a:ext cx="10820400" cy="1316736"/>
          </a:xfrm>
          <a:prstGeom prst="rect">
            <a:avLst/>
          </a:prstGeom>
          <a:solidFill>
            <a:srgbClr val="F7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072384"/>
            <a:ext cx="41148" cy="1316736"/>
          </a:xfrm>
          <a:prstGeom prst="rect">
            <a:avLst/>
          </a:prstGeom>
          <a:solidFill>
            <a:srgbClr val="9C4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3236976"/>
            <a:ext cx="10290048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 i="0">
                <a:solidFill>
                  <a:srgbClr val="14171C"/>
                </a:solidFill>
                <a:latin typeface="Segoe UI"/>
              </a:rPr>
              <a:t>Ölçülen: uzun sistem promptu tool calling'i tamamen öldürüyor. 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qwen2.5:7b-instruct'ta numaralı uzun kural listesi modelin </a:t>
            </a:r>
            <a:r>
              <a:rPr sz="1200" b="0" i="0">
                <a:solidFill>
                  <a:srgbClr val="4A5058"/>
                </a:solidFill>
                <a:latin typeface="Consolas"/>
              </a:rPr>
              <a:t>search_documents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'i hiç çağırmamasına yol açtı — kural açıkça "önce aracı çağır" dediği hâlde model kendi bilgisinden cevap yazdı.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 i="0">
                <a:solidFill>
                  <a:srgbClr val="14171C"/>
                </a:solidFill>
                <a:latin typeface="Segoe UI"/>
              </a:rPr>
              <a:t>Çözüm: 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sistem promptu </a:t>
            </a:r>
            <a:r>
              <a:rPr sz="1300" b="1" i="0">
                <a:solidFill>
                  <a:srgbClr val="14171C"/>
                </a:solidFill>
                <a:latin typeface="Segoe UI"/>
              </a:rPr>
              <a:t>iki cümleye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indirildi. Düşen kurallar kaybolmadı — konu dışı reddi LLM'den önce skor kapısına, atıf zorunluluğu LLM'den sonra atıf denetimine taşındı.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498848"/>
            <a:ext cx="5227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" y="4736592"/>
            <a:ext cx="4751832" cy="8961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858C96"/>
                </a:solidFill>
                <a:latin typeface="Consolas"/>
              </a:rPr>
              <a:t>SISTEM PROMPTU (TAMAMI)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900" b="0" i="0">
                <a:solidFill>
                  <a:srgbClr val="4A5058"/>
                </a:solidFill>
                <a:latin typeface="Consolas"/>
              </a:rPr>
              <a:t>Sen bir şirket iç bilgi tabanı asistanısın.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900" b="0" i="0">
                <a:solidFill>
                  <a:srgbClr val="4A5058"/>
                </a:solidFill>
                <a:latin typeface="Consolas"/>
              </a:rPr>
              <a:t>Cevap vermeden önce HER ZAMAN search_documents aracını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900" b="0" i="0">
                <a:solidFill>
                  <a:srgbClr val="4A5058"/>
                </a:solidFill>
                <a:latin typeface="Consolas"/>
              </a:rPr>
              <a:t>çağırmalısın. Araç sonucunu görmeden asla cevap yazma.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8880" y="4498848"/>
            <a:ext cx="5227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6624" y="4736592"/>
            <a:ext cx="4751832" cy="8961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858C96"/>
                </a:solidFill>
                <a:latin typeface="Consolas"/>
              </a:rPr>
              <a:t>ATIF HATIRLATICISI — ARAÇ SONUCUYLA BIRLIKTE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00" b="0" i="0">
                <a:solidFill>
                  <a:srgbClr val="4A5058"/>
                </a:solidFill>
                <a:latin typeface="Segoe UI"/>
              </a:rPr>
              <a:t>Atıf kuralı sistem promptunda değil, </a:t>
            </a:r>
            <a:r>
              <a:rPr sz="1100" b="1" i="0">
                <a:solidFill>
                  <a:srgbClr val="14171C"/>
                </a:solidFill>
                <a:latin typeface="Segoe UI"/>
              </a:rPr>
              <a:t>her araç sonucunun yanında</a:t>
            </a:r>
            <a:r>
              <a:rPr sz="1100" b="0" i="0">
                <a:solidFill>
                  <a:srgbClr val="4A5058"/>
                </a:solidFill>
                <a:latin typeface="Segoe UI"/>
              </a:rPr>
              <a:t> gönderiliyor.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00" b="0" i="0">
                <a:solidFill>
                  <a:srgbClr val="4A5058"/>
                </a:solidFill>
                <a:latin typeface="Segoe UI"/>
              </a:rPr>
              <a:t>Sebep: araç </a:t>
            </a:r>
            <a:r>
              <a:rPr sz="1100" b="1" i="0">
                <a:solidFill>
                  <a:srgbClr val="14171C"/>
                </a:solidFill>
                <a:latin typeface="Segoe UI"/>
              </a:rPr>
              <a:t>çalıştıktan sonra</a:t>
            </a:r>
            <a:r>
              <a:rPr sz="1100" b="0" i="0">
                <a:solidFill>
                  <a:srgbClr val="4A5058"/>
                </a:solidFill>
                <a:latin typeface="Segoe UI"/>
              </a:rPr>
              <a:t> gelen talimat, araç çağrısını bastırmıyor.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01 · RAG Ajanı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8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5F75"/>
                </a:solidFill>
                <a:latin typeface="Consolas"/>
              </a:rPr>
              <a:t>01 · G  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ÖLÇÜM METRIKLERI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77824"/>
            <a:ext cx="10820400" cy="9525"/>
          </a:xfrm>
          <a:prstGeom prst="rect">
            <a:avLst/>
          </a:prstGeom>
          <a:solidFill>
            <a:srgbClr val="DE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24128"/>
            <a:ext cx="1082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171C"/>
                </a:solidFill>
                <a:latin typeface="Georgia"/>
              </a:rPr>
              <a:t>Deterministik değerlendirme — LLM-as-judge yok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9326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4A5058"/>
                </a:solidFill>
                <a:latin typeface="Segoe UI"/>
              </a:rPr>
              <a:t>13 vakalı sabit set (7 cevaplanabilir + 6 konu dışı). Ölçülen şey sistemin </a:t>
            </a:r>
            <a:r>
              <a:rPr sz="1400" b="1" i="0">
                <a:solidFill>
                  <a:srgbClr val="14171C"/>
                </a:solidFill>
                <a:latin typeface="Segoe UI"/>
              </a:rPr>
              <a:t>kontrol ettiği davranış</a:t>
            </a:r>
            <a:r>
              <a:rPr sz="1400" b="0" i="0">
                <a:solidFill>
                  <a:srgbClr val="4A5058"/>
                </a:solidFill>
                <a:latin typeface="Segoe UI"/>
              </a:rPr>
              <a:t>; cevabın kelimeleri asla puanlanmıyor çünkü kelimeler belirlenimsiz.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487168"/>
            <a:ext cx="10820400" cy="310896"/>
          </a:xfrm>
          <a:prstGeom prst="rect">
            <a:avLst/>
          </a:prstGeom>
          <a:solidFill>
            <a:srgbClr val="F2F0EA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487168"/>
            <a:ext cx="233566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METRIK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2357" y="2487168"/>
            <a:ext cx="392140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TANIM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36646" y="2487168"/>
            <a:ext cx="40146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NEDEN BU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798064"/>
            <a:ext cx="1082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798064"/>
            <a:ext cx="233566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4171C"/>
                </a:solidFill>
                <a:latin typeface="Consolas"/>
              </a:rPr>
              <a:t>citation_rate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2357" y="2798064"/>
            <a:ext cx="392140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A5058"/>
                </a:solidFill>
                <a:latin typeface="Segoe UI"/>
              </a:rPr>
              <a:t>Cevaplanabilir sorularda ≥1 atıf çıkma oranı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36646" y="2798064"/>
            <a:ext cx="40146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A5058"/>
                </a:solidFill>
                <a:latin typeface="Segoe UI"/>
              </a:rPr>
              <a:t>Kaynaksız cevap ürünün tanımı gereği hatalı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072384"/>
            <a:ext cx="1082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3072384"/>
            <a:ext cx="233566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4171C"/>
                </a:solidFill>
                <a:latin typeface="Consolas"/>
              </a:rPr>
              <a:t>source_accuracy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2357" y="3072384"/>
            <a:ext cx="392140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A5058"/>
                </a:solidFill>
                <a:latin typeface="Segoe UI"/>
              </a:rPr>
              <a:t>Atıfın beklenen belgeyi göstermesi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6646" y="3072384"/>
            <a:ext cx="40146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A5058"/>
                </a:solidFill>
                <a:latin typeface="Segoe UI"/>
              </a:rPr>
              <a:t>Atıf var ama yanlış belgeyse bu bir başarısızlık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346704"/>
            <a:ext cx="1082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3346704"/>
            <a:ext cx="233566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4171C"/>
                </a:solidFill>
                <a:latin typeface="Consolas"/>
              </a:rPr>
              <a:t>evidence_hit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2357" y="3346704"/>
            <a:ext cx="392140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A5058"/>
                </a:solidFill>
                <a:latin typeface="Segoe UI"/>
              </a:rPr>
              <a:t>Beklenen olgunun metinde geçmesi (ör. 1.500 TL/ay)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6646" y="3346704"/>
            <a:ext cx="40146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A5058"/>
                </a:solidFill>
                <a:latin typeface="Segoe UI"/>
              </a:rPr>
              <a:t>İçeriğin doğruluğunu kelime eşleşmesiyle sabitler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621024"/>
            <a:ext cx="1082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3621024"/>
            <a:ext cx="233566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4171C"/>
                </a:solidFill>
                <a:latin typeface="Consolas"/>
              </a:rPr>
              <a:t>refusal_accuracy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2357" y="3621024"/>
            <a:ext cx="392140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A5058"/>
                </a:solidFill>
                <a:latin typeface="Segoe UI"/>
              </a:rPr>
              <a:t>Konu dışı soruda atıfsız kalma oranı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6646" y="3621024"/>
            <a:ext cx="40146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A5058"/>
                </a:solidFill>
                <a:latin typeface="Segoe UI"/>
              </a:rPr>
              <a:t>Kapının gerçekten çalıştığını ölçer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3895344"/>
            <a:ext cx="1082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" y="3895344"/>
            <a:ext cx="233566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4171C"/>
                </a:solidFill>
                <a:latin typeface="Consolas"/>
              </a:rPr>
              <a:t>avg_latency_ms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2357" y="3895344"/>
            <a:ext cx="392140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A5058"/>
                </a:solidFill>
                <a:latin typeface="Segoe UI"/>
              </a:rPr>
              <a:t>Ortalama gecikme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6646" y="3895344"/>
            <a:ext cx="40146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A5058"/>
                </a:solidFill>
                <a:latin typeface="Segoe UI"/>
              </a:rPr>
              <a:t>Model seçiminin maliyet tarafı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169664"/>
            <a:ext cx="1082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" y="4169664"/>
            <a:ext cx="233566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4171C"/>
                </a:solidFill>
                <a:latin typeface="Consolas"/>
              </a:rPr>
              <a:t>total_cost_usd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2357" y="4169664"/>
            <a:ext cx="392140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A5058"/>
                </a:solidFill>
                <a:latin typeface="Segoe UI"/>
              </a:rPr>
              <a:t>Token × fiyat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36646" y="4169664"/>
            <a:ext cx="40146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A5058"/>
                </a:solidFill>
                <a:latin typeface="Segoe UI"/>
              </a:rPr>
              <a:t>Fiyatı bilinmeyen model NULL — 0 değil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4590288"/>
            <a:ext cx="10820400" cy="1115568"/>
          </a:xfrm>
          <a:prstGeom prst="rect">
            <a:avLst/>
          </a:prstGeom>
          <a:solidFill>
            <a:srgbClr val="F5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" y="4590288"/>
            <a:ext cx="41148" cy="1115568"/>
          </a:xfrm>
          <a:prstGeom prst="rect">
            <a:avLst/>
          </a:prstGeom>
          <a:solidFill>
            <a:srgbClr val="9A6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" y="4754880"/>
            <a:ext cx="10290048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 i="0">
                <a:solidFill>
                  <a:srgbClr val="14171C"/>
                </a:solidFill>
                <a:latin typeface="Segoe UI"/>
              </a:rPr>
              <a:t>Ölçülemeyen değer NULL, sıfır değil (ADR-015). 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SQL toplamları NULL'ı atlar; fiyatı bilinmeyen bir model hiçbir ortalamayı aşağı çekmiyor ve </a:t>
            </a:r>
            <a:r>
              <a:rPr sz="1200" b="0" i="0">
                <a:solidFill>
                  <a:srgbClr val="4A5058"/>
                </a:solidFill>
                <a:latin typeface="Consolas"/>
              </a:rPr>
              <a:t>priced_runs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toplamın ne kadarının gerçekten bilindiğini söylüyor.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4A5058"/>
                </a:solidFill>
                <a:latin typeface="Segoe UI"/>
              </a:rPr>
              <a:t>Her koşu SQLite'a yazılıyor: model, gecikme, giriş/çıkış token, maliyet, atıf sayısı, kapı sonucu, araç çağrısı sayısı.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01 · RAG Ajanı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9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5F75"/>
                </a:solidFill>
                <a:latin typeface="Consolas"/>
              </a:rPr>
              <a:t>01 · H  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ARALIKLI HATANIN KÖKÜ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77824"/>
            <a:ext cx="10820400" cy="9525"/>
          </a:xfrm>
          <a:prstGeom prst="rect">
            <a:avLst/>
          </a:prstGeom>
          <a:solidFill>
            <a:srgbClr val="DE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24128"/>
            <a:ext cx="1082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171C"/>
                </a:solidFill>
                <a:latin typeface="Georgia"/>
              </a:rPr>
              <a:t>12 koşunun 1'inde düşen test, bir test sorunu değildi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522732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112263"/>
            <a:ext cx="4751832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858C96"/>
                </a:solidFill>
                <a:latin typeface="Consolas"/>
              </a:rPr>
              <a:t>BELIRTI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00" b="0" i="0">
                <a:solidFill>
                  <a:srgbClr val="4A5058"/>
                </a:solidFill>
                <a:latin typeface="Consolas"/>
              </a:rPr>
              <a:t>test_document_code_is_matched_exactly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tam koşuların ~</a:t>
            </a:r>
            <a:r>
              <a:rPr sz="1250" b="1" i="0">
                <a:solidFill>
                  <a:srgbClr val="9A6A22"/>
                </a:solidFill>
                <a:latin typeface="Consolas"/>
              </a:rPr>
              <a:t>1/12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'sinde düşüyordu. Klasik "flaky test" görüntüsü.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250" b="0" i="0">
                <a:solidFill>
                  <a:srgbClr val="4A5058"/>
                </a:solidFill>
                <a:latin typeface="Segoe UI"/>
              </a:rPr>
              <a:t>Ölçüm: aynı indeks, </a:t>
            </a:r>
            <a:r>
              <a:rPr sz="1250" b="1" i="0">
                <a:solidFill>
                  <a:srgbClr val="14171C"/>
                </a:solidFill>
                <a:latin typeface="Segoe UI"/>
              </a:rPr>
              <a:t>bayt bayt aynı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sorgu vektörü (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sha1=cc59028…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), BM25 her seferinde doğru.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880" y="1874519"/>
            <a:ext cx="522732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6624" y="2112263"/>
            <a:ext cx="4751832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858C96"/>
                </a:solidFill>
                <a:latin typeface="Consolas"/>
              </a:rPr>
              <a:t>GERÇEK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250" b="1" i="0">
                <a:solidFill>
                  <a:srgbClr val="14171C"/>
                </a:solidFill>
                <a:latin typeface="Segoe UI"/>
              </a:rPr>
              <a:t>Doğru parça 8 koşunun 2'sinde dense ilk 20'ye hiç girmiyordu.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Girmeyince en iyi kosinüs </a:t>
            </a:r>
            <a:r>
              <a:rPr sz="1250" b="1" i="0">
                <a:solidFill>
                  <a:srgbClr val="9A6A22"/>
                </a:solidFill>
                <a:latin typeface="Consolas"/>
              </a:rPr>
              <a:t>0,7916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'ya düşüyor — </a:t>
            </a:r>
            <a:r>
              <a:rPr sz="1250" b="1" i="0">
                <a:solidFill>
                  <a:srgbClr val="9A6A22"/>
                </a:solidFill>
                <a:latin typeface="Consolas"/>
              </a:rPr>
              <a:t>0,80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kapısının altı.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250" b="1" i="0">
                <a:solidFill>
                  <a:srgbClr val="14171C"/>
                </a:solidFill>
                <a:latin typeface="Segoe UI"/>
              </a:rPr>
              <a:t>Yani ajan geçerli bir soruyu reddediyordu.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Test sorunu değil, ürün hatası.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657600"/>
            <a:ext cx="10820400" cy="1298448"/>
          </a:xfrm>
          <a:prstGeom prst="rect">
            <a:avLst/>
          </a:prstGeom>
          <a:solidFill>
            <a:srgbClr val="F7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657600"/>
            <a:ext cx="41148" cy="1298448"/>
          </a:xfrm>
          <a:prstGeom prst="rect">
            <a:avLst/>
          </a:prstGeom>
          <a:solidFill>
            <a:srgbClr val="9C4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3822192"/>
            <a:ext cx="10290048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 i="0">
                <a:solidFill>
                  <a:srgbClr val="14171C"/>
                </a:solidFill>
                <a:latin typeface="Segoe UI"/>
              </a:rPr>
              <a:t>Kök neden: 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HNSW </a:t>
            </a:r>
            <a:r>
              <a:rPr sz="1300" b="1" i="0">
                <a:solidFill>
                  <a:srgbClr val="14171C"/>
                </a:solidFill>
                <a:latin typeface="Segoe UI"/>
              </a:rPr>
              <a:t>yaklaşık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bir arama algoritması. Chroma'nın varsayılan </a:t>
            </a:r>
            <a:r>
              <a:rPr sz="1200" b="0" i="0">
                <a:solidFill>
                  <a:srgbClr val="4A5058"/>
                </a:solidFill>
                <a:latin typeface="Consolas"/>
              </a:rPr>
              <a:t>search_ef = 10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değeri, retriever'ın istediği </a:t>
            </a:r>
            <a:r>
              <a:rPr sz="1200" b="0" i="0">
                <a:solidFill>
                  <a:srgbClr val="4A5058"/>
                </a:solidFill>
                <a:latin typeface="Consolas"/>
              </a:rPr>
              <a:t>n_results = 20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'den dar — arama kendi sonuç listesinden küçük bir pencereyle çalışıyordu.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 i="0">
                <a:solidFill>
                  <a:srgbClr val="14171C"/>
                </a:solidFill>
                <a:latin typeface="Segoe UI"/>
              </a:rPr>
              <a:t>Düzeltme: </a:t>
            </a:r>
            <a:r>
              <a:rPr sz="1200" b="0" i="0">
                <a:solidFill>
                  <a:srgbClr val="4A5058"/>
                </a:solidFill>
                <a:latin typeface="Consolas"/>
              </a:rPr>
              <a:t>hnsw:search_ef = 200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(276 parçada arama fiilen tam taramaya dönüyor). </a:t>
            </a:r>
            <a:r>
              <a:rPr sz="1300" b="1" i="0">
                <a:solidFill>
                  <a:srgbClr val="14171C"/>
                </a:solidFill>
                <a:latin typeface="Segoe UI"/>
              </a:rPr>
              <a:t>Doğrulama: </a:t>
            </a:r>
            <a:r>
              <a:rPr sz="1300" b="1" i="0">
                <a:solidFill>
                  <a:srgbClr val="9A6A22"/>
                </a:solidFill>
                <a:latin typeface="Consolas"/>
              </a:rPr>
              <a:t>10/10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, </a:t>
            </a:r>
            <a:r>
              <a:rPr sz="1200" b="0" i="0">
                <a:solidFill>
                  <a:srgbClr val="4A5058"/>
                </a:solidFill>
                <a:latin typeface="Consolas"/>
              </a:rPr>
              <a:t>gate=True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75504"/>
            <a:ext cx="1082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A5058"/>
                </a:solidFill>
                <a:latin typeface="Segoe UI"/>
              </a:rPr>
              <a:t>Ders: eşiği düşürmek "düzeltme" gibi görünürdü ve asıl hatayı gizlerdi. Sorun kapı değil, doğru parçanın hiç gelmemesiydi.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01 · RAG Ajanı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10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5F75"/>
                </a:solidFill>
                <a:latin typeface="Consolas"/>
              </a:rPr>
              <a:t>02  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BÖLÜM 2 — SATIŞ VE TALEP ANALIZI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77824"/>
            <a:ext cx="10820400" cy="9525"/>
          </a:xfrm>
          <a:prstGeom prst="rect">
            <a:avLst/>
          </a:prstGeom>
          <a:solidFill>
            <a:srgbClr val="DE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24128"/>
            <a:ext cx="1082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171C"/>
                </a:solidFill>
                <a:latin typeface="Georgia"/>
              </a:rPr>
              <a:t>374 seri, 124 ay, dört pazar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326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4A5058"/>
                </a:solidFill>
                <a:latin typeface="Segoe UI"/>
              </a:rPr>
              <a:t>Geniş formatlı Excel — üç satırlık hiyerarşik başlık (Yıl / Ay / Metrik), anahtarlar ilk üç kolonda. </a:t>
            </a:r>
            <a:r>
              <a:rPr sz="1250" b="0" i="0">
                <a:solidFill>
                  <a:srgbClr val="4A5058"/>
                </a:solidFill>
                <a:latin typeface="Consolas"/>
              </a:rPr>
              <a:t>read_excel(header=0)</a:t>
            </a:r>
            <a:r>
              <a:rPr sz="1500" b="0" i="0">
                <a:solidFill>
                  <a:srgbClr val="4A5058"/>
                </a:solidFill>
                <a:latin typeface="Segoe UI"/>
              </a:rPr>
              <a:t> bu yapıyı yanlış okur; başlık satırları elle çözülüyor ve tidy çerçeveye dönüştürülüyor.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25130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5F75"/>
                </a:solidFill>
                <a:latin typeface="Consolas"/>
              </a:rPr>
              <a:t>374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75304"/>
            <a:ext cx="25130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4A5058"/>
                </a:solidFill>
                <a:latin typeface="Segoe UI"/>
              </a:rPr>
              <a:t>benzersiz seri — (pazar, şirket, ürün)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4908" y="3063240"/>
            <a:ext cx="25130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5F75"/>
                </a:solidFill>
                <a:latin typeface="Consolas"/>
              </a:rPr>
              <a:t>124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4908" y="3575304"/>
            <a:ext cx="25130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4A5058"/>
                </a:solidFill>
                <a:latin typeface="Segoe UI"/>
              </a:rPr>
              <a:t>ay — yaklaşık 10 yıl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4016" y="3063240"/>
            <a:ext cx="25130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5F75"/>
                </a:solidFill>
                <a:latin typeface="Consolas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4016" y="3575304"/>
            <a:ext cx="25130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4A5058"/>
                </a:solidFill>
                <a:latin typeface="Segoe UI"/>
              </a:rPr>
              <a:t>ölçülmüş veri kalitesi sorunu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3124" y="3063240"/>
            <a:ext cx="25130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5F75"/>
                </a:solidFill>
                <a:latin typeface="Consola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3124" y="3575304"/>
            <a:ext cx="25130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4A5058"/>
                </a:solidFill>
                <a:latin typeface="Segoe UI"/>
              </a:rPr>
              <a:t>modül: load · clean · metrics · forecast · plots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297680"/>
            <a:ext cx="10820400" cy="1188720"/>
          </a:xfrm>
          <a:prstGeom prst="rect">
            <a:avLst/>
          </a:prstGeom>
          <a:solidFill>
            <a:srgbClr val="E4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297680"/>
            <a:ext cx="41148" cy="1188720"/>
          </a:xfrm>
          <a:prstGeom prst="rect">
            <a:avLst/>
          </a:prstGeom>
          <a:solidFill>
            <a:srgbClr val="2B5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4462272"/>
            <a:ext cx="10290048" cy="8961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 i="0">
                <a:solidFill>
                  <a:srgbClr val="14171C"/>
                </a:solidFill>
                <a:latin typeface="Segoe UI"/>
              </a:rPr>
              <a:t>Mimari kararı: 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analiz mantığı notebook'ta değil, </a:t>
            </a:r>
            <a:r>
              <a:rPr sz="1200" b="0" i="0">
                <a:solidFill>
                  <a:srgbClr val="4A5058"/>
                </a:solidFill>
                <a:latin typeface="Consolas"/>
              </a:rPr>
              <a:t>src/analysis/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altındaki beş modülde. Notebook ince: çağırıyor ve yorumluyor.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4A5058"/>
                </a:solidFill>
                <a:latin typeface="Segoe UI"/>
              </a:rPr>
              <a:t>Sebep — </a:t>
            </a:r>
            <a:r>
              <a:rPr sz="1300" b="1" i="0">
                <a:solidFill>
                  <a:srgbClr val="14171C"/>
                </a:solidFill>
                <a:latin typeface="Segoe UI"/>
              </a:rPr>
              <a:t>notebook hücresi test edilemez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, modül edilebilir. İki veri sızıntısı ancak bu sayede testle yakalandı.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02 · Satış Analizi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11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5F75"/>
                </a:solidFill>
                <a:latin typeface="Consolas"/>
              </a:rPr>
              <a:t>02 · A  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ANALIZI KURTARAN TEK SATIR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77824"/>
            <a:ext cx="10820400" cy="9525"/>
          </a:xfrm>
          <a:prstGeom prst="rect">
            <a:avLst/>
          </a:prstGeom>
          <a:solidFill>
            <a:srgbClr val="DE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24128"/>
            <a:ext cx="1082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171C"/>
                </a:solidFill>
                <a:latin typeface="Georgia"/>
              </a:rPr>
              <a:t>Aynı kolon, iki farklı ölçekte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4A5058"/>
                </a:solidFill>
                <a:latin typeface="Consolas"/>
              </a:rPr>
              <a:t>MF Oran</a:t>
            </a:r>
            <a:r>
              <a:rPr sz="1400" b="0" i="0">
                <a:solidFill>
                  <a:srgbClr val="4A5058"/>
                </a:solidFill>
                <a:latin typeface="Segoe UI"/>
              </a:rPr>
              <a:t> kolonu B Pazarı'nda </a:t>
            </a:r>
            <a:r>
              <a:rPr sz="1400" b="1" i="0">
                <a:solidFill>
                  <a:srgbClr val="14171C"/>
                </a:solidFill>
                <a:latin typeface="Segoe UI"/>
              </a:rPr>
              <a:t>yüzde</a:t>
            </a:r>
            <a:r>
              <a:rPr sz="1400" b="0" i="0">
                <a:solidFill>
                  <a:srgbClr val="4A5058"/>
                </a:solidFill>
                <a:latin typeface="Segoe UI"/>
              </a:rPr>
              <a:t> (0–100), diğer üç pazarda </a:t>
            </a:r>
            <a:r>
              <a:rPr sz="1400" b="1" i="0">
                <a:solidFill>
                  <a:srgbClr val="14171C"/>
                </a:solidFill>
                <a:latin typeface="Segoe UI"/>
              </a:rPr>
              <a:t>oran</a:t>
            </a:r>
            <a:r>
              <a:rPr sz="1400" b="0" i="0">
                <a:solidFill>
                  <a:srgbClr val="4A5058"/>
                </a:solidFill>
                <a:latin typeface="Segoe UI"/>
              </a:rPr>
              <a:t> (0–1). Aynı Excel, aynı kolon başlığı, farklı birim. Hiçbir yerde yazmıyor.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42032"/>
            <a:ext cx="5181600" cy="1152144"/>
          </a:xfrm>
          <a:prstGeom prst="roundRect">
            <a:avLst>
              <a:gd name="adj" fmla="val 4000"/>
            </a:avLst>
          </a:prstGeom>
          <a:solidFill>
            <a:srgbClr val="F7E9E5"/>
          </a:solidFill>
          <a:ln w="12700">
            <a:solidFill>
              <a:srgbClr val="9C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724912"/>
            <a:ext cx="474268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950" b="0" i="0">
                <a:solidFill>
                  <a:srgbClr val="858C96"/>
                </a:solidFill>
                <a:latin typeface="Consolas"/>
              </a:rPr>
              <a:t>DÜZELTME OLMADAN</a:t>
            </a:r>
          </a:p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00" b="0" i="0">
                <a:solidFill>
                  <a:srgbClr val="14171C"/>
                </a:solidFill>
                <a:latin typeface="Consolas"/>
              </a:rPr>
              <a:t>Net Kutu = Brüt × (1 − MF)</a:t>
            </a:r>
          </a:p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50" b="0" i="0">
                <a:solidFill>
                  <a:srgbClr val="4A5058"/>
                </a:solidFill>
                <a:latin typeface="Segoe UI"/>
              </a:rPr>
              <a:t>MF = 7 ⟹ çarpan </a:t>
            </a:r>
            <a:r>
              <a:rPr sz="1250" b="1" i="0">
                <a:solidFill>
                  <a:srgbClr val="14171C"/>
                </a:solidFill>
                <a:latin typeface="Segoe UI"/>
              </a:rPr>
              <a:t>−6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⟹ net kutu negatif ⟹ birim fiyat </a:t>
            </a:r>
            <a:r>
              <a:rPr sz="1250" b="1" i="0">
                <a:solidFill>
                  <a:srgbClr val="9A6A22"/>
                </a:solidFill>
                <a:latin typeface="Consolas"/>
              </a:rPr>
              <a:t>−0,88 TL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67400" y="2542032"/>
            <a:ext cx="457200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858C96"/>
                </a:solidFill>
                <a:latin typeface="Consola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600" y="2542032"/>
            <a:ext cx="5181600" cy="1152144"/>
          </a:xfrm>
          <a:prstGeom prst="roundRect">
            <a:avLst>
              <a:gd name="adj" fmla="val 4000"/>
            </a:avLst>
          </a:prstGeom>
          <a:solidFill>
            <a:srgbClr val="E6EFE8"/>
          </a:solidFill>
          <a:ln w="12700">
            <a:solidFill>
              <a:srgbClr val="3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4056" y="2724912"/>
            <a:ext cx="474268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950" b="0" i="0">
                <a:solidFill>
                  <a:srgbClr val="858C96"/>
                </a:solidFill>
                <a:latin typeface="Consolas"/>
              </a:rPr>
              <a:t>DÜZELTME İLE</a:t>
            </a:r>
          </a:p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00" b="0" i="0">
                <a:solidFill>
                  <a:srgbClr val="14171C"/>
                </a:solidFill>
                <a:latin typeface="Consolas"/>
              </a:rPr>
              <a:t>MF ÷ 100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 (yalnız yüzde ölçekli pazarda)</a:t>
            </a:r>
          </a:p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50" b="0" i="0">
                <a:solidFill>
                  <a:srgbClr val="4A5058"/>
                </a:solidFill>
                <a:latin typeface="Segoe UI"/>
              </a:rPr>
              <a:t>Birim fiyat </a:t>
            </a:r>
            <a:r>
              <a:rPr sz="1250" b="1" i="0">
                <a:solidFill>
                  <a:srgbClr val="9A6A22"/>
                </a:solidFill>
                <a:latin typeface="Consolas"/>
              </a:rPr>
              <a:t>8,32 TL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— makul ve diğer pazarlarla karşılaştırılabilir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840480"/>
            <a:ext cx="10820400" cy="566928"/>
          </a:xfrm>
          <a:prstGeom prst="rect">
            <a:avLst/>
          </a:prstGeom>
          <a:solidFill>
            <a:srgbClr val="F7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840480"/>
            <a:ext cx="41148" cy="566928"/>
          </a:xfrm>
          <a:prstGeom prst="rect">
            <a:avLst/>
          </a:prstGeom>
          <a:solidFill>
            <a:srgbClr val="9C4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4005072"/>
            <a:ext cx="1029004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 i="0">
                <a:solidFill>
                  <a:srgbClr val="14171C"/>
                </a:solidFill>
                <a:latin typeface="Segoe UI"/>
              </a:rPr>
              <a:t>Bu düzeltme olmadan A4, A6 ve A7 görevlerinin üçü de yanlış çıkardı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— ve hiçbiri hata vermezdi. Sessizce yanlış sayı üretirdi.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572000"/>
            <a:ext cx="1082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4171C"/>
                </a:solidFill>
                <a:latin typeface="Segoe UI"/>
              </a:rPr>
              <a:t>Nasıl tespit edilir: 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pazar adı yazmadım. Kural veriden çıkıyor — pozitif MF değerlerinin medyanı 1'i aşıyorsa o pazar yüzde ölçeğindedir. Sıfırlar medyana katılmıyor, yoksa ölçek sorunu gözden kaçardı.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175504"/>
            <a:ext cx="10820400" cy="1170432"/>
          </a:xfrm>
          <a:prstGeom prst="roundRect">
            <a:avLst>
              <a:gd name="adj" fmla="val 4000"/>
            </a:avLst>
          </a:prstGeom>
          <a:solidFill>
            <a:srgbClr val="F2F0EA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5330952"/>
            <a:ext cx="10381488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 i="0">
                <a:solidFill>
                  <a:srgbClr val="2B5F75"/>
                </a:solidFill>
                <a:latin typeface="Consolas"/>
              </a:rPr>
              <a:t>def 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detect_mf_scale(df):</a:t>
            </a:r>
          </a:p>
          <a:p>
            <a:pPr algn="l">
              <a:lnSpc>
                <a:spcPct val="114000"/>
              </a:lnSpc>
            </a:pPr>
            <a:r>
              <a:rPr sz="1150" b="0" i="0">
                <a:solidFill>
                  <a:srgbClr val="858C96"/>
                </a:solidFill>
                <a:latin typeface="Consolas"/>
              </a:rPr>
              <a:t>    # Kural veriden çıkar, pazar adından değil.</a:t>
            </a:r>
          </a:p>
          <a:p>
            <a:pPr algn="l">
              <a:lnSpc>
                <a:spcPct val="114000"/>
              </a:lnSpc>
            </a:pPr>
            <a:r>
              <a:rPr sz="1150" b="0" i="0">
                <a:solidFill>
                  <a:srgbClr val="2B5F75"/>
                </a:solidFill>
                <a:latin typeface="Consolas"/>
              </a:rPr>
              <a:t>    for 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market, group </a:t>
            </a:r>
            <a:r>
              <a:rPr sz="1150" b="0" i="0">
                <a:solidFill>
                  <a:srgbClr val="2B5F75"/>
                </a:solidFill>
                <a:latin typeface="Consolas"/>
              </a:rPr>
              <a:t>in 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df.groupby(</a:t>
            </a:r>
            <a:r>
              <a:rPr sz="1150" b="0" i="0">
                <a:solidFill>
                  <a:srgbClr val="9C4A3C"/>
                </a:solidFill>
                <a:latin typeface="Consolas"/>
              </a:rPr>
              <a:t>"pazar"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):</a:t>
            </a:r>
          </a:p>
          <a:p>
            <a:pPr algn="l">
              <a:lnSpc>
                <a:spcPct val="114000"/>
              </a:lnSpc>
            </a:pPr>
            <a:r>
              <a:rPr sz="1150" b="0" i="0">
                <a:solidFill>
                  <a:srgbClr val="4A5058"/>
                </a:solidFill>
                <a:latin typeface="Consolas"/>
              </a:rPr>
              <a:t>        factors[market] = </a:t>
            </a:r>
            <a:r>
              <a:rPr sz="1150" b="0" i="0">
                <a:solidFill>
                  <a:srgbClr val="9C4A3C"/>
                </a:solidFill>
                <a:latin typeface="Consolas"/>
              </a:rPr>
              <a:t>100.0 </a:t>
            </a:r>
            <a:r>
              <a:rPr sz="1150" b="0" i="0">
                <a:solidFill>
                  <a:srgbClr val="2B5F75"/>
                </a:solidFill>
                <a:latin typeface="Consolas"/>
              </a:rPr>
              <a:t>if 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positive.median() &gt; </a:t>
            </a:r>
            <a:r>
              <a:rPr sz="1150" b="0" i="0">
                <a:solidFill>
                  <a:srgbClr val="9C4A3C"/>
                </a:solidFill>
                <a:latin typeface="Consolas"/>
              </a:rPr>
              <a:t>1 </a:t>
            </a:r>
            <a:r>
              <a:rPr sz="1150" b="0" i="0">
                <a:solidFill>
                  <a:srgbClr val="2B5F75"/>
                </a:solidFill>
                <a:latin typeface="Consolas"/>
              </a:rPr>
              <a:t>else </a:t>
            </a:r>
            <a:r>
              <a:rPr sz="1150" b="0" i="0">
                <a:solidFill>
                  <a:srgbClr val="9C4A3C"/>
                </a:solidFill>
                <a:latin typeface="Consolas"/>
              </a:rPr>
              <a:t>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02 · Satış Analizi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12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5F75"/>
                </a:solidFill>
                <a:latin typeface="Consolas"/>
              </a:rPr>
              <a:t>02 · B  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SESSIZCE SILMEK YERINE RAPORLAMAK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77824"/>
            <a:ext cx="10820400" cy="9525"/>
          </a:xfrm>
          <a:prstGeom prst="rect">
            <a:avLst/>
          </a:prstGeom>
          <a:solidFill>
            <a:srgbClr val="DE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24128"/>
            <a:ext cx="1082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171C"/>
                </a:solidFill>
                <a:latin typeface="Georgia"/>
              </a:rPr>
              <a:t>Yedi düzeltme, her biri sayısıyla birlikte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4A5058"/>
                </a:solidFill>
                <a:latin typeface="Segoe UI"/>
              </a:rPr>
              <a:t>Temizleme boru hattı hem veriyi değiştiriyor hem de ne yaptığını sayıyor. </a:t>
            </a:r>
            <a:r>
              <a:rPr sz="1300" b="0" i="0">
                <a:solidFill>
                  <a:srgbClr val="4A5058"/>
                </a:solidFill>
                <a:latin typeface="Consolas"/>
              </a:rPr>
              <a:t>DataQualityReport</a:t>
            </a:r>
            <a:r>
              <a:rPr sz="1400" b="0" i="0">
                <a:solidFill>
                  <a:srgbClr val="4A5058"/>
                </a:solidFill>
                <a:latin typeface="Segoe UI"/>
              </a:rPr>
              <a:t> notebook'un ilk çıktısı — analizden önce okuyucu neyin değiştiğini görüyor.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542032"/>
            <a:ext cx="10820400" cy="310896"/>
          </a:xfrm>
          <a:prstGeom prst="rect">
            <a:avLst/>
          </a:prstGeom>
          <a:solidFill>
            <a:srgbClr val="F2F0EA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542032"/>
            <a:ext cx="280561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SORUN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2307" y="2542032"/>
            <a:ext cx="76490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KARAR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852928"/>
            <a:ext cx="1082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2852928"/>
            <a:ext cx="280561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A5058"/>
                </a:solidFill>
                <a:latin typeface="Segoe UI"/>
              </a:rPr>
              <a:t>MF ölçek karışıklığı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2307" y="2852928"/>
            <a:ext cx="764902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A5058"/>
                </a:solidFill>
                <a:latin typeface="Segoe UI"/>
              </a:rPr>
              <a:t>Veriden tespit edilip ölçeklendi — pazar adı sabitlenmedi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145536"/>
            <a:ext cx="1082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145536"/>
            <a:ext cx="280561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A5058"/>
                </a:solidFill>
                <a:latin typeface="Segoe UI"/>
              </a:rPr>
              <a:t>Negatif Brüt Kutu / Net 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2307" y="3145536"/>
            <a:ext cx="764902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4171C"/>
                </a:solidFill>
                <a:latin typeface="Segoe UI"/>
              </a:rPr>
              <a:t>İadeler.</a:t>
            </a:r>
            <a:r>
              <a:rPr sz="1200" b="0" i="0">
                <a:solidFill>
                  <a:srgbClr val="4A5058"/>
                </a:solidFill>
                <a:latin typeface="Segoe UI"/>
              </a:rPr>
              <a:t> Silinmedi — toplamlarda kalıyor, yalnız tahmin girdisinde 0'lanıyor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438144"/>
            <a:ext cx="1082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3438144"/>
            <a:ext cx="280561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A5058"/>
                </a:solidFill>
                <a:latin typeface="Segoe UI"/>
              </a:rPr>
              <a:t>Ürün adı boşlukları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2307" y="3438144"/>
            <a:ext cx="764902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A5058"/>
                </a:solidFill>
                <a:latin typeface="Consolas"/>
              </a:rPr>
              <a:t>Ürün 1</a:t>
            </a:r>
            <a:r>
              <a:rPr sz="1200" b="0" i="0">
                <a:solidFill>
                  <a:srgbClr val="4A5058"/>
                </a:solidFill>
                <a:latin typeface="Segoe UI"/>
              </a:rPr>
              <a:t> vs 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Ürün  2</a:t>
            </a:r>
            <a:r>
              <a:rPr sz="1200" b="0" i="0">
                <a:solidFill>
                  <a:srgbClr val="4A5058"/>
                </a:solidFill>
                <a:latin typeface="Segoe UI"/>
              </a:rPr>
              <a:t>  →  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\s+ → ' 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730752"/>
            <a:ext cx="1082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3730752"/>
            <a:ext cx="280561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A5058"/>
                </a:solidFill>
                <a:latin typeface="Segoe UI"/>
              </a:rPr>
              <a:t>Lansman öncesi dönem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02307" y="3730752"/>
            <a:ext cx="764902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A5058"/>
                </a:solidFill>
                <a:latin typeface="Segoe UI"/>
              </a:rPr>
              <a:t>İlk pozitif satıştan önce ürün yok — gerçek sıfırla karıştırılmıyor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023360"/>
            <a:ext cx="1082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4023360"/>
            <a:ext cx="280561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A5058"/>
                </a:solidFill>
                <a:latin typeface="Segoe UI"/>
              </a:rPr>
              <a:t>Boş hücreler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02307" y="4023360"/>
            <a:ext cx="764902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A5058"/>
                </a:solidFill>
                <a:latin typeface="Consolas"/>
              </a:rPr>
              <a:t>NaN</a:t>
            </a:r>
            <a:r>
              <a:rPr sz="1200" b="0" i="0">
                <a:solidFill>
                  <a:srgbClr val="4A5058"/>
                </a:solidFill>
                <a:latin typeface="Segoe UI"/>
              </a:rPr>
              <a:t> kalıyor, sıfıra çevrilmiyor — "yok" ile "sıfır sattı" farklı şeyler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315968"/>
            <a:ext cx="1082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" y="4315968"/>
            <a:ext cx="280561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A5058"/>
                </a:solidFill>
                <a:latin typeface="Segoe UI"/>
              </a:rPr>
              <a:t>Birim fiyat inf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02307" y="4315968"/>
            <a:ext cx="764902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A5058"/>
                </a:solidFill>
                <a:latin typeface="Segoe UI"/>
              </a:rPr>
              <a:t>Net kutu ≤ 0 ise fiyat 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NaN</a:t>
            </a:r>
            <a:r>
              <a:rPr sz="1200" b="0" i="0">
                <a:solidFill>
                  <a:srgbClr val="4A5058"/>
                </a:solidFill>
                <a:latin typeface="Segoe UI"/>
              </a:rPr>
              <a:t> — sonsuz değer bütün ortalamaları sessizce zehirlerdi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608576"/>
            <a:ext cx="10820400" cy="292608"/>
          </a:xfrm>
          <a:prstGeom prst="rect">
            <a:avLst/>
          </a:prstGeom>
          <a:solidFill>
            <a:srgbClr val="F7E9E5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" y="4608576"/>
            <a:ext cx="280561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A5058"/>
                </a:solidFill>
                <a:latin typeface="Segoe UI"/>
              </a:rPr>
              <a:t>Çok kısa seriler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02307" y="4608576"/>
            <a:ext cx="764902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4171C"/>
                </a:solidFill>
                <a:latin typeface="Consolas"/>
              </a:rPr>
              <a:t>C/Ürün 1</a:t>
            </a:r>
            <a:r>
              <a:rPr sz="1200" b="0" i="0">
                <a:solidFill>
                  <a:srgbClr val="4A5058"/>
                </a:solidFill>
                <a:latin typeface="Segoe UI"/>
              </a:rPr>
              <a:t> yalnız </a:t>
            </a:r>
            <a:r>
              <a:rPr sz="1200" b="1" i="0">
                <a:solidFill>
                  <a:srgbClr val="14171C"/>
                </a:solidFill>
                <a:latin typeface="Segoe UI"/>
              </a:rPr>
              <a:t>1</a:t>
            </a:r>
            <a:r>
              <a:rPr sz="1200" b="0" i="0">
                <a:solidFill>
                  <a:srgbClr val="4A5058"/>
                </a:solidFill>
                <a:latin typeface="Segoe UI"/>
              </a:rPr>
              <a:t> gözlem taşıyor. Çıkarılmadı — listelendi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138928"/>
            <a:ext cx="10820400" cy="841248"/>
          </a:xfrm>
          <a:prstGeom prst="rect">
            <a:avLst/>
          </a:prstGeom>
          <a:solidFill>
            <a:srgbClr val="F7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138928"/>
            <a:ext cx="41148" cy="841248"/>
          </a:xfrm>
          <a:prstGeom prst="rect">
            <a:avLst/>
          </a:prstGeom>
          <a:solidFill>
            <a:srgbClr val="9C4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256" y="5303520"/>
            <a:ext cx="1029004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 i="0">
                <a:solidFill>
                  <a:srgbClr val="14171C"/>
                </a:solidFill>
                <a:latin typeface="Segoe UI"/>
              </a:rPr>
              <a:t>Yol boyunca yakalanan kusur: 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mevsimsellik eşiği başta satır sayısına bakıyordu. </a:t>
            </a:r>
            <a:r>
              <a:rPr sz="1200" b="0" i="0">
                <a:solidFill>
                  <a:srgbClr val="4A5058"/>
                </a:solidFill>
                <a:latin typeface="Consolas"/>
              </a:rPr>
              <a:t>C/Ürün 1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kırpma sonrası 27 satır taşıyor ama bunların yalnız </a:t>
            </a:r>
            <a:r>
              <a:rPr sz="1300" b="1" i="0">
                <a:solidFill>
                  <a:srgbClr val="14171C"/>
                </a:solidFill>
                <a:latin typeface="Segoe UI"/>
              </a:rPr>
              <a:t>biri pozitif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. Kod bu seriye </a:t>
            </a:r>
            <a:r>
              <a:rPr sz="1300" b="1" i="0">
                <a:solidFill>
                  <a:srgbClr val="9A6A22"/>
                </a:solidFill>
                <a:latin typeface="Consolas"/>
              </a:rPr>
              <a:t>0,99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mevsimsellik uyduruyordu. Ölçü satış görülen ay sayısına çevrildi.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02 · Satış Analizi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13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5F75"/>
                </a:solidFill>
                <a:latin typeface="Consolas"/>
              </a:rPr>
              <a:t>02 · C  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TALEP TAHMINI VE HATA METRIKLERI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77824"/>
            <a:ext cx="10820400" cy="9525"/>
          </a:xfrm>
          <a:prstGeom prst="rect">
            <a:avLst/>
          </a:prstGeom>
          <a:solidFill>
            <a:srgbClr val="DE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24128"/>
            <a:ext cx="1082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171C"/>
                </a:solidFill>
                <a:latin typeface="Georgia"/>
              </a:rPr>
              <a:t>Genişleyen pencereli walk-forward, beş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9326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4A5058"/>
                </a:solidFill>
                <a:latin typeface="Segoe UI"/>
              </a:rPr>
              <a:t>Son </a:t>
            </a:r>
            <a:r>
              <a:rPr sz="1250" b="0" i="0">
                <a:solidFill>
                  <a:srgbClr val="4A5058"/>
                </a:solidFill>
                <a:latin typeface="Consolas"/>
              </a:rPr>
              <a:t>12</a:t>
            </a:r>
            <a:r>
              <a:rPr sz="1400" b="0" i="0">
                <a:solidFill>
                  <a:srgbClr val="4A5058"/>
                </a:solidFill>
                <a:latin typeface="Segoe UI"/>
              </a:rPr>
              <a:t> ay tek tek tahmin ediliyor; her adımda eğitim penceresi genişliyor ve </a:t>
            </a:r>
            <a:r>
              <a:rPr sz="1400" b="1" i="0">
                <a:solidFill>
                  <a:srgbClr val="14171C"/>
                </a:solidFill>
                <a:latin typeface="Segoe UI"/>
              </a:rPr>
              <a:t>hedef ayı hiçbir zaman içermiyor</a:t>
            </a:r>
            <a:r>
              <a:rPr sz="1400" b="0" i="0">
                <a:solidFill>
                  <a:srgbClr val="4A5058"/>
                </a:solidFill>
                <a:latin typeface="Segoe UI"/>
              </a:rPr>
              <a:t>. Tek train/test bölmesi zaman serisinde yanıltıcıdır.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487168"/>
            <a:ext cx="5669280" cy="274320"/>
          </a:xfrm>
          <a:prstGeom prst="rect">
            <a:avLst/>
          </a:prstGeom>
          <a:solidFill>
            <a:srgbClr val="F2F0EA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487168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1176" y="2487168"/>
            <a:ext cx="3749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TANIM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761488"/>
            <a:ext cx="56692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2761488"/>
            <a:ext cx="1554480" cy="265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4171C"/>
                </a:solidFill>
                <a:latin typeface="Consolas"/>
              </a:rPr>
              <a:t>naive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1176" y="2761488"/>
            <a:ext cx="3749040" cy="265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A5058"/>
                </a:solidFill>
                <a:latin typeface="Consolas"/>
              </a:rPr>
              <a:t>ŷ(t+1) = y(t)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026664"/>
            <a:ext cx="56692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026664"/>
            <a:ext cx="1554480" cy="265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4171C"/>
                </a:solidFill>
                <a:latin typeface="Consolas"/>
              </a:rPr>
              <a:t>snaive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1176" y="3026664"/>
            <a:ext cx="3749040" cy="265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A5058"/>
                </a:solidFill>
                <a:latin typeface="Consolas"/>
              </a:rPr>
              <a:t>ŷ(t+1) = y(t−11)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291840"/>
            <a:ext cx="56692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3291840"/>
            <a:ext cx="1554480" cy="265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4171C"/>
                </a:solidFill>
                <a:latin typeface="Consolas"/>
              </a:rPr>
              <a:t>ma3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1176" y="3291840"/>
            <a:ext cx="3749040" cy="265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A5058"/>
                </a:solidFill>
                <a:latin typeface="Consolas"/>
              </a:rPr>
              <a:t>son 3 ayın ortalaması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557016"/>
            <a:ext cx="56692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3557016"/>
            <a:ext cx="1554480" cy="265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4171C"/>
                </a:solidFill>
                <a:latin typeface="Consolas"/>
              </a:rPr>
              <a:t>lgbm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51176" y="3557016"/>
            <a:ext cx="3749040" cy="265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Segoe UI"/>
              </a:rPr>
              <a:t>global LightGBM — lag 1/2/3/12, roll 3/6, takvim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822192"/>
            <a:ext cx="566928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3822192"/>
            <a:ext cx="1554480" cy="265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4171C"/>
                </a:solidFill>
                <a:latin typeface="Consolas"/>
              </a:rPr>
              <a:t>lgbm + MF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51176" y="3822192"/>
            <a:ext cx="3749040" cy="265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Segoe UI"/>
              </a:rPr>
              <a:t>+ MF lag 0/1 ve roll ortalama (ablasyon)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2487168"/>
            <a:ext cx="487680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67144" y="2724912"/>
            <a:ext cx="4401312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858C96"/>
                </a:solidFill>
                <a:latin typeface="Consolas"/>
              </a:rPr>
              <a:t>MAPE TEK BAŞINA YETMIYOR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 i="0">
                <a:solidFill>
                  <a:srgbClr val="4A5058"/>
                </a:solidFill>
                <a:latin typeface="Segoe UI"/>
              </a:rPr>
              <a:t>Bu veride </a:t>
            </a:r>
            <a:r>
              <a:rPr sz="1150" b="1" i="0">
                <a:solidFill>
                  <a:srgbClr val="9A6A22"/>
                </a:solidFill>
                <a:latin typeface="Consolas"/>
              </a:rPr>
              <a:t>9.536</a:t>
            </a:r>
            <a:r>
              <a:rPr sz="1150" b="0" i="0">
                <a:solidFill>
                  <a:srgbClr val="4A5058"/>
                </a:solidFill>
                <a:latin typeface="Segoe UI"/>
              </a:rPr>
              <a:t> sıfır aylık gözlem var — MAPE sıfıra bölmede patlar.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 i="0">
                <a:solidFill>
                  <a:srgbClr val="4A5058"/>
                </a:solidFill>
                <a:latin typeface="Segoe UI"/>
              </a:rPr>
              <a:t>MAPE yalnız </a:t>
            </a:r>
            <a:r>
              <a:rPr sz="1050" b="0" i="0">
                <a:solidFill>
                  <a:srgbClr val="4A5058"/>
                </a:solidFill>
                <a:latin typeface="Consolas"/>
              </a:rPr>
              <a:t>y &gt; 0</a:t>
            </a:r>
            <a:r>
              <a:rPr sz="1150" b="0" i="0">
                <a:solidFill>
                  <a:srgbClr val="4A5058"/>
                </a:solidFill>
                <a:latin typeface="Segoe UI"/>
              </a:rPr>
              <a:t> gözlemlerde hesaplanıyor; yanına sıfır-dayanıklı </a:t>
            </a:r>
            <a:r>
              <a:rPr sz="1150" b="1" i="0">
                <a:solidFill>
                  <a:srgbClr val="14171C"/>
                </a:solidFill>
                <a:latin typeface="Segoe UI"/>
              </a:rPr>
              <a:t>WAPE</a:t>
            </a:r>
            <a:r>
              <a:rPr sz="1150" b="0" i="0">
                <a:solidFill>
                  <a:srgbClr val="4A5058"/>
                </a:solidFill>
                <a:latin typeface="Segoe UI"/>
              </a:rPr>
              <a:t> ve </a:t>
            </a:r>
            <a:r>
              <a:rPr sz="1150" b="1" i="0">
                <a:solidFill>
                  <a:srgbClr val="14171C"/>
                </a:solidFill>
                <a:latin typeface="Segoe UI"/>
              </a:rPr>
              <a:t>sMAPE</a:t>
            </a:r>
            <a:r>
              <a:rPr sz="1150" b="0" i="0">
                <a:solidFill>
                  <a:srgbClr val="4A5058"/>
                </a:solidFill>
                <a:latin typeface="Segoe UI"/>
              </a:rPr>
              <a:t> konuyor. Ayrıca MAE ve RMSE.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206240"/>
            <a:ext cx="10820400" cy="1060704"/>
          </a:xfrm>
          <a:prstGeom prst="rect">
            <a:avLst/>
          </a:prstGeom>
          <a:solidFill>
            <a:srgbClr val="F5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4206240"/>
            <a:ext cx="41148" cy="1060704"/>
          </a:xfrm>
          <a:prstGeom prst="rect">
            <a:avLst/>
          </a:prstGeom>
          <a:solidFill>
            <a:srgbClr val="9A6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" y="4370832"/>
            <a:ext cx="10290048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 i="0">
                <a:solidFill>
                  <a:srgbClr val="14171C"/>
                </a:solidFill>
                <a:latin typeface="Segoe UI"/>
              </a:rPr>
              <a:t>En önemli bulgu — tek model mimarisi her pazarda geçerli değil. 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Dört pazarda </a:t>
            </a:r>
            <a:r>
              <a:rPr sz="1300" b="1" i="0">
                <a:solidFill>
                  <a:srgbClr val="14171C"/>
                </a:solidFill>
                <a:latin typeface="Segoe UI"/>
              </a:rPr>
              <a:t>üç farklı kazanan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: A → </a:t>
            </a:r>
            <a:r>
              <a:rPr sz="1200" b="0" i="0">
                <a:solidFill>
                  <a:srgbClr val="4A5058"/>
                </a:solidFill>
                <a:latin typeface="Consolas"/>
              </a:rPr>
              <a:t>snaive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(16,9), B ve C → </a:t>
            </a:r>
            <a:r>
              <a:rPr sz="1200" b="0" i="0">
                <a:solidFill>
                  <a:srgbClr val="4A5058"/>
                </a:solidFill>
                <a:latin typeface="Consolas"/>
              </a:rPr>
              <a:t>ma3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(10,8 / 9,9), D → </a:t>
            </a:r>
            <a:r>
              <a:rPr sz="1200" b="0" i="0">
                <a:solidFill>
                  <a:srgbClr val="4A5058"/>
                </a:solidFill>
                <a:latin typeface="Consolas"/>
              </a:rPr>
              <a:t>lgbm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(52,9).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4A5058"/>
                </a:solidFill>
                <a:latin typeface="Consolas"/>
              </a:rPr>
              <a:t>lgbm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hiçbir pazarda birinci değil — ama hiçbirinde kötü de değil. Tek model seçilecekse en savunulabilir olan 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431536"/>
            <a:ext cx="1082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4171C"/>
                </a:solidFill>
                <a:latin typeface="Segoe UI"/>
              </a:rPr>
              <a:t>İki sızıntı testle yakalandı: 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tüm kaydırmalar 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(pazar, şirket, ürün)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içinde yapılıyor. Kaydırma yönü ters çevrilse model geleceği görür ve metrikler sahte biçimde iyi çıkardı.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02 · Satış Analizi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14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5F75"/>
                </a:solidFill>
                <a:latin typeface="Consolas"/>
              </a:rPr>
              <a:t>02 · D  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BEKLENENIN TERSI ÇIKAN SONUÇ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77824"/>
            <a:ext cx="10820400" cy="9525"/>
          </a:xfrm>
          <a:prstGeom prst="rect">
            <a:avLst/>
          </a:prstGeom>
          <a:solidFill>
            <a:srgbClr val="DE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24128"/>
            <a:ext cx="1082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171C"/>
                </a:solidFill>
                <a:latin typeface="Georgia"/>
              </a:rPr>
              <a:t>MF talep yaratmıyor, öne çekiyor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4A5058"/>
                </a:solidFill>
                <a:latin typeface="Segoe UI"/>
              </a:rPr>
              <a:t>A4: yüksek MF uygulanan ayı izleyen ayda satışlar ne oluyor? Beklenti "promosyon talebi artırır" yönündeydi. Veri tersini söyledi.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42032"/>
            <a:ext cx="342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9C4A3C"/>
                </a:solidFill>
                <a:latin typeface="Consolas"/>
              </a:rPr>
              <a:t>−%21,7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54096"/>
            <a:ext cx="3423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4A5058"/>
                </a:solidFill>
                <a:latin typeface="Segoe UI"/>
              </a:rPr>
              <a:t>A Pazarı'nda yüksek MF ayını izleyen ayın medyan değişimi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4040" y="2542032"/>
            <a:ext cx="342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F6B4A"/>
                </a:solidFill>
                <a:latin typeface="Consolas"/>
              </a:rPr>
              <a:t>+%1,0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4040" y="3054096"/>
            <a:ext cx="3423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4A5058"/>
                </a:solidFill>
                <a:latin typeface="Segoe UI"/>
              </a:rPr>
              <a:t>Kontrol grubunda aynı ölçüm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2280" y="2542032"/>
            <a:ext cx="342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5F75"/>
                </a:solidFill>
                <a:latin typeface="Consolas"/>
              </a:rPr>
              <a:t>δ = −0,49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2280" y="3054096"/>
            <a:ext cx="3423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4A5058"/>
                </a:solidFill>
                <a:latin typeface="Segoe UI"/>
              </a:rPr>
              <a:t>Cliff's delta — orta-büyük etki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49039"/>
            <a:ext cx="10820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A5058"/>
                </a:solidFill>
                <a:latin typeface="Segoe UI"/>
              </a:rPr>
              <a:t>Mann-Whitney </a:t>
            </a:r>
            <a:r>
              <a:rPr sz="1200" b="0" i="0">
                <a:solidFill>
                  <a:srgbClr val="4A5058"/>
                </a:solidFill>
                <a:latin typeface="Consolas"/>
              </a:rPr>
              <a:t>p ≈ 3×10⁻¹²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, FDR düzeltmesi sonrası </a:t>
            </a:r>
            <a:r>
              <a:rPr sz="1200" b="0" i="0">
                <a:solidFill>
                  <a:srgbClr val="4A5058"/>
                </a:solidFill>
                <a:latin typeface="Consolas"/>
              </a:rPr>
              <a:t>q ≈ 9×10⁻¹²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. İstatistiksel anlamlılık tek başına raporlanmadı — </a:t>
            </a:r>
            <a:r>
              <a:rPr sz="1300" b="1" i="0">
                <a:solidFill>
                  <a:srgbClr val="14171C"/>
                </a:solidFill>
                <a:latin typeface="Segoe UI"/>
              </a:rPr>
              <a:t>etki büyüklüğü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ve </a:t>
            </a:r>
            <a:r>
              <a:rPr sz="1300" b="1" i="0">
                <a:solidFill>
                  <a:srgbClr val="14171C"/>
                </a:solidFill>
                <a:latin typeface="Segoe UI"/>
              </a:rPr>
              <a:t>çoklu karşılaştırma düzeltmesi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yanında. Yorum: kanal doldurma.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443984"/>
            <a:ext cx="10820400" cy="658368"/>
          </a:xfrm>
          <a:prstGeom prst="rect">
            <a:avLst/>
          </a:prstGeom>
          <a:solidFill>
            <a:srgbClr val="E4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443984"/>
            <a:ext cx="41148" cy="658368"/>
          </a:xfrm>
          <a:prstGeom prst="rect">
            <a:avLst/>
          </a:prstGeom>
          <a:solidFill>
            <a:srgbClr val="2B5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4608576"/>
            <a:ext cx="10290048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 i="0">
                <a:solidFill>
                  <a:srgbClr val="14171C"/>
                </a:solidFill>
                <a:latin typeface="Segoe UI"/>
              </a:rPr>
              <a:t>Ve test edilemeyen için "etki yok" yazılmadı. 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C Pazarı'nda hiç yüksek MF olayı yok. Rapor "etki bulunamadı" demiyor — </a:t>
            </a:r>
            <a:r>
              <a:rPr sz="1300" b="1" i="0">
                <a:solidFill>
                  <a:srgbClr val="14171C"/>
                </a:solidFill>
                <a:latin typeface="Segoe UI"/>
              </a:rPr>
              <a:t>"test edilemedi"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diyor. İkisi çok farklı iddialar.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230368"/>
            <a:ext cx="522732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5468112"/>
            <a:ext cx="4751832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858C96"/>
                </a:solidFill>
                <a:latin typeface="Consolas"/>
              </a:rPr>
              <a:t>A6 — PROMOSYON MALIYETI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200" b="0" i="0">
                <a:solidFill>
                  <a:srgbClr val="4A5058"/>
                </a:solidFill>
                <a:latin typeface="Segoe UI"/>
              </a:rPr>
              <a:t>Bedelsiz kutuların değeri: </a:t>
            </a:r>
            <a:r>
              <a:rPr sz="1200" b="1" i="0">
                <a:solidFill>
                  <a:srgbClr val="9A6A22"/>
                </a:solidFill>
                <a:latin typeface="Consolas"/>
              </a:rPr>
              <a:t>108,3 milyon TL</a:t>
            </a:r>
            <a:r>
              <a:rPr sz="1200" b="0" i="0">
                <a:solidFill>
                  <a:srgbClr val="4A5058"/>
                </a:solidFill>
                <a:latin typeface="Segoe UI"/>
              </a:rPr>
              <a:t> — cironun </a:t>
            </a:r>
            <a:r>
              <a:rPr sz="1200" b="1" i="0">
                <a:solidFill>
                  <a:srgbClr val="9A6A22"/>
                </a:solidFill>
                <a:latin typeface="Consolas"/>
              </a:rPr>
              <a:t>%2,93</a:t>
            </a:r>
            <a:r>
              <a:rPr sz="1200" b="0" i="0">
                <a:solidFill>
                  <a:srgbClr val="4A5058"/>
                </a:solidFill>
                <a:latin typeface="Segoe UI"/>
              </a:rPr>
              <a:t>'ü.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8880" y="5230368"/>
            <a:ext cx="522732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6624" y="5468112"/>
            <a:ext cx="4751832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858C96"/>
                </a:solidFill>
                <a:latin typeface="Consolas"/>
              </a:rPr>
              <a:t>A1 — ŞIRKET 1'IN PAYI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250" b="0" i="0">
                <a:solidFill>
                  <a:srgbClr val="4A5058"/>
                </a:solidFill>
                <a:latin typeface="Segoe UI"/>
              </a:rPr>
              <a:t>Son 12 ay, Brüt Kutu: A </a:t>
            </a:r>
            <a:r>
              <a:rPr sz="1250" b="1" i="0">
                <a:solidFill>
                  <a:srgbClr val="9A6A22"/>
                </a:solidFill>
                <a:latin typeface="Consolas"/>
              </a:rPr>
              <a:t>%12,4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· B </a:t>
            </a:r>
            <a:r>
              <a:rPr sz="1250" b="1" i="0">
                <a:solidFill>
                  <a:srgbClr val="9A6A22"/>
                </a:solidFill>
                <a:latin typeface="Consolas"/>
              </a:rPr>
              <a:t>%13,1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· C </a:t>
            </a:r>
            <a:r>
              <a:rPr sz="1250" b="1" i="0">
                <a:solidFill>
                  <a:srgbClr val="9A6A22"/>
                </a:solidFill>
                <a:latin typeface="Consolas"/>
              </a:rPr>
              <a:t>%6,0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· D </a:t>
            </a:r>
            <a:r>
              <a:rPr sz="1250" b="1" i="0">
                <a:solidFill>
                  <a:srgbClr val="9A6A22"/>
                </a:solidFill>
                <a:latin typeface="Consolas"/>
              </a:rPr>
              <a:t>%3,9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02 · Satış Analizi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15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5F75"/>
                </a:solidFill>
                <a:latin typeface="Consolas"/>
              </a:rPr>
              <a:t>03  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BÖLÜM 3 — AZURE'A TAŞIRKEN MIMARIDE NE DEĞIŞTI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77824"/>
            <a:ext cx="10820400" cy="9525"/>
          </a:xfrm>
          <a:prstGeom prst="rect">
            <a:avLst/>
          </a:prstGeom>
          <a:solidFill>
            <a:srgbClr val="DE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24128"/>
            <a:ext cx="1082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171C"/>
                </a:solidFill>
                <a:latin typeface="Georgia"/>
              </a:rPr>
              <a:t>Aynı algoritma, değişen altyapı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9326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4A5058"/>
                </a:solidFill>
                <a:latin typeface="Segoe UI"/>
              </a:rPr>
              <a:t>Bölüm 1'in teslimi bozulmasın diye </a:t>
            </a:r>
            <a:r>
              <a:rPr sz="1250" b="0" i="0">
                <a:solidFill>
                  <a:srgbClr val="4A5058"/>
                </a:solidFill>
                <a:latin typeface="Consolas"/>
              </a:rPr>
              <a:t>azure/</a:t>
            </a:r>
            <a:r>
              <a:rPr sz="1400" b="0" i="0">
                <a:solidFill>
                  <a:srgbClr val="4A5058"/>
                </a:solidFill>
                <a:latin typeface="Segoe UI"/>
              </a:rPr>
              <a:t> paralel bir uygulama olarak yazıldı. Retrieval mantığı, RRF, eşik kuralı ve grafik yapısı </a:t>
            </a:r>
            <a:r>
              <a:rPr sz="1400" b="1" i="0">
                <a:solidFill>
                  <a:srgbClr val="14171C"/>
                </a:solidFill>
                <a:latin typeface="Segoe UI"/>
              </a:rPr>
              <a:t>aynı</a:t>
            </a:r>
            <a:r>
              <a:rPr sz="1400" b="0" i="0">
                <a:solidFill>
                  <a:srgbClr val="4A5058"/>
                </a:solidFill>
                <a:latin typeface="Segoe UI"/>
              </a:rPr>
              <a:t>; altındaki her şey değişti.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505456"/>
            <a:ext cx="10820400" cy="310896"/>
          </a:xfrm>
          <a:prstGeom prst="rect">
            <a:avLst/>
          </a:prstGeom>
          <a:solidFill>
            <a:srgbClr val="F2F0EA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505456"/>
            <a:ext cx="152033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KATMAN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7027" y="2505456"/>
            <a:ext cx="25222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BÖLÜM 1 — YEREL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2127" y="2505456"/>
            <a:ext cx="232184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BÖLÜM 3 — AZURE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849" y="2505456"/>
            <a:ext cx="37244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DEĞIŞIM SEBEBI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816352"/>
            <a:ext cx="1082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2816352"/>
            <a:ext cx="15203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Segoe UI"/>
              </a:rPr>
              <a:t>Embedding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7027" y="2816352"/>
            <a:ext cx="25222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Consolas"/>
              </a:rPr>
              <a:t>e5-base, 768-d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2127" y="2816352"/>
            <a:ext cx="232184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Consolas"/>
              </a:rPr>
              <a:t>3-small, 1536-d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849" y="2816352"/>
            <a:ext cx="372448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Segoe UI"/>
              </a:rPr>
              <a:t>torch yok → 1,1 GB imaj katmanı gitti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090672"/>
            <a:ext cx="1082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3090672"/>
            <a:ext cx="15203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Segoe UI"/>
              </a:rPr>
              <a:t>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7027" y="3090672"/>
            <a:ext cx="25222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Consolas"/>
              </a:rPr>
              <a:t>Ollama, yerel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2127" y="3090672"/>
            <a:ext cx="232184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Consolas"/>
              </a:rPr>
              <a:t>Azure OpenAI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849" y="3090672"/>
            <a:ext cx="372448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Segoe UI"/>
              </a:rPr>
              <a:t>GPU'suz konteynerde yerel model çalışmaz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364992"/>
            <a:ext cx="1082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3364992"/>
            <a:ext cx="15203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Segoe UI"/>
              </a:rPr>
              <a:t>Arayüz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7027" y="3364992"/>
            <a:ext cx="25222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Consolas"/>
              </a:rPr>
              <a:t>Streamlit → Gradio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2127" y="3364992"/>
            <a:ext cx="232184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Consolas"/>
              </a:rPr>
              <a:t>Next.js 15 + 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849" y="3364992"/>
            <a:ext cx="372448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Segoe UI"/>
              </a:rPr>
              <a:t>Oturum, akış ve çok sayfa gerekiyordu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3639312"/>
            <a:ext cx="1082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" y="3639312"/>
            <a:ext cx="15203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Segoe UI"/>
              </a:rPr>
              <a:t>Kimlik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7027" y="3639312"/>
            <a:ext cx="25222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Segoe UI"/>
              </a:rPr>
              <a:t>yok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22127" y="3639312"/>
            <a:ext cx="232184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Consolas"/>
              </a:rPr>
              <a:t>JWT + bcrypt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849" y="3639312"/>
            <a:ext cx="372448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Segoe UI"/>
              </a:rPr>
              <a:t>Genel internete açık dağıtım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913632"/>
            <a:ext cx="1082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" y="3913632"/>
            <a:ext cx="15203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Segoe UI"/>
              </a:rPr>
              <a:t>Eşikler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7027" y="3913632"/>
            <a:ext cx="25222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Consolas"/>
              </a:rPr>
              <a:t>0.80 / 5.0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22127" y="3913632"/>
            <a:ext cx="232184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C4A3C"/>
                </a:solidFill>
                <a:latin typeface="Segoe UI"/>
              </a:rPr>
              <a:t>yeniden kalibre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849" y="3913632"/>
            <a:ext cx="372448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Segoe UI"/>
              </a:rPr>
              <a:t>Eşik embedding modeline bağlı — devralınamaz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4187952"/>
            <a:ext cx="1082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" y="4187952"/>
            <a:ext cx="15203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Segoe UI"/>
              </a:rPr>
              <a:t>Metrikler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17027" y="4187952"/>
            <a:ext cx="25222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Segoe UI"/>
              </a:rPr>
              <a:t>CPU/RAM/VRAM kolonları var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22127" y="4187952"/>
            <a:ext cx="232184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C4A3C"/>
                </a:solidFill>
                <a:latin typeface="Segoe UI"/>
              </a:rPr>
              <a:t>kaldırıldı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849" y="4187952"/>
            <a:ext cx="372448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Segoe UI"/>
              </a:rPr>
              <a:t>Konteyner yalnız HTTP çağırıyor; ölçüm anlamsız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4462272"/>
            <a:ext cx="1082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" y="4462272"/>
            <a:ext cx="15203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Segoe UI"/>
              </a:rPr>
              <a:t>API yüzeyi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17027" y="4462272"/>
            <a:ext cx="25222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Segoe UI"/>
              </a:rPr>
              <a:t>anahtar girişi, evaluation, delete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22127" y="4462272"/>
            <a:ext cx="232184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C4A3C"/>
                </a:solidFill>
                <a:latin typeface="Segoe UI"/>
              </a:rPr>
              <a:t>çıkarıldı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849" y="4462272"/>
            <a:ext cx="372448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Segoe UI"/>
              </a:rPr>
              <a:t>Saldırı yüzeyi ve maliyet yükseltme ucu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" y="4864608"/>
            <a:ext cx="10820400" cy="877824"/>
          </a:xfrm>
          <a:prstGeom prst="rect">
            <a:avLst/>
          </a:prstGeom>
          <a:solidFill>
            <a:srgbClr val="E4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5800" y="4864608"/>
            <a:ext cx="41148" cy="877824"/>
          </a:xfrm>
          <a:prstGeom prst="rect">
            <a:avLst/>
          </a:prstGeom>
          <a:solidFill>
            <a:srgbClr val="2B5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56" y="5029200"/>
            <a:ext cx="10290048" cy="585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 i="0">
                <a:solidFill>
                  <a:srgbClr val="14171C"/>
                </a:solidFill>
                <a:latin typeface="Segoe UI"/>
              </a:rPr>
              <a:t>Değişmeyen çekirdek: </a:t>
            </a:r>
            <a:r>
              <a:rPr sz="1200" b="0" i="0">
                <a:solidFill>
                  <a:srgbClr val="4A5058"/>
                </a:solidFill>
                <a:latin typeface="Consolas"/>
              </a:rPr>
              <a:t>chunker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· </a:t>
            </a:r>
            <a:r>
              <a:rPr sz="1200" b="0" i="0">
                <a:solidFill>
                  <a:srgbClr val="4A5058"/>
                </a:solidFill>
                <a:latin typeface="Consolas"/>
              </a:rPr>
              <a:t>normalize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· </a:t>
            </a:r>
            <a:r>
              <a:rPr sz="1200" b="0" i="0">
                <a:solidFill>
                  <a:srgbClr val="4A5058"/>
                </a:solidFill>
                <a:latin typeface="Consolas"/>
              </a:rPr>
              <a:t>retriever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· </a:t>
            </a:r>
            <a:r>
              <a:rPr sz="1200" b="0" i="0">
                <a:solidFill>
                  <a:srgbClr val="4A5058"/>
                </a:solidFill>
                <a:latin typeface="Consolas"/>
              </a:rPr>
              <a:t>graph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· </a:t>
            </a:r>
            <a:r>
              <a:rPr sz="1200" b="0" i="0">
                <a:solidFill>
                  <a:srgbClr val="4A5058"/>
                </a:solidFill>
                <a:latin typeface="Consolas"/>
              </a:rPr>
              <a:t>prompts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. Bu, retrieval kalitesinin altyapıdan bağımsız olduğunu gösteriyor — ve iki dağıtımın karşılaştırılabilir kalmasını sağlıyor.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03 · Azure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16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5F75"/>
                </a:solidFill>
                <a:latin typeface="Consolas"/>
              </a:rPr>
              <a:t>03 · A  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DAĞITIM TOPOLOJISI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77824"/>
            <a:ext cx="10820400" cy="9525"/>
          </a:xfrm>
          <a:prstGeom prst="rect">
            <a:avLst/>
          </a:prstGeom>
          <a:solidFill>
            <a:srgbClr val="DE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24128"/>
            <a:ext cx="1082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171C"/>
                </a:solidFill>
                <a:latin typeface="Georgia"/>
              </a:rPr>
              <a:t>Backend'in genel bir adresi yok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47088"/>
            <a:ext cx="5577840" cy="3104388"/>
          </a:xfrm>
          <a:prstGeom prst="roundRect">
            <a:avLst>
              <a:gd name="adj" fmla="val 4000"/>
            </a:avLst>
          </a:prstGeom>
          <a:solidFill>
            <a:srgbClr val="F2F0EA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002536"/>
            <a:ext cx="5138928" cy="27934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858C96"/>
                </a:solidFill>
                <a:latin typeface="Consolas"/>
              </a:rPr>
              <a:t>  internet</a:t>
            </a:r>
          </a:p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858C96"/>
                </a:solidFill>
                <a:latin typeface="Consolas"/>
              </a:rPr>
              <a:t>      │</a:t>
            </a:r>
          </a:p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858C96"/>
                </a:solidFill>
                <a:latin typeface="Consolas"/>
              </a:rPr>
              <a:t>      ▼</a:t>
            </a:r>
          </a:p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858C96"/>
                </a:solidFill>
                <a:latin typeface="Consolas"/>
              </a:rPr>
              <a:t>┌──────────────────────┐  </a:t>
            </a:r>
            <a:r>
              <a:rPr sz="1100" b="0" i="0">
                <a:solidFill>
                  <a:srgbClr val="2B5F75"/>
                </a:solidFill>
                <a:latin typeface="Consolas"/>
              </a:rPr>
              <a:t>Next.js 15</a:t>
            </a:r>
          </a:p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858C96"/>
                </a:solidFill>
                <a:latin typeface="Consolas"/>
              </a:rPr>
              <a:t>│  </a:t>
            </a:r>
            <a:r>
              <a:rPr sz="1100" b="0" i="0">
                <a:solidFill>
                  <a:srgbClr val="2B5F75"/>
                </a:solidFill>
                <a:latin typeface="Consolas"/>
              </a:rPr>
              <a:t>nobel-rag-web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       │  </a:t>
            </a:r>
            <a:r>
              <a:rPr sz="1100" b="0" i="0">
                <a:solidFill>
                  <a:srgbClr val="4A5058"/>
                </a:solidFill>
                <a:latin typeface="Consolas"/>
              </a:rPr>
              <a:t>genel ingress</a:t>
            </a:r>
          </a:p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858C96"/>
                </a:solidFill>
                <a:latin typeface="Consolas"/>
              </a:rPr>
              <a:t>└──────────┬───────────┘  </a:t>
            </a:r>
            <a:r>
              <a:rPr sz="1100" b="0" i="0">
                <a:solidFill>
                  <a:srgbClr val="4A5058"/>
                </a:solidFill>
                <a:latin typeface="Consolas"/>
              </a:rPr>
              <a:t>JWT · bcrypt</a:t>
            </a:r>
          </a:p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858C96"/>
                </a:solidFill>
                <a:latin typeface="Consolas"/>
              </a:rPr>
              <a:t>           │ </a:t>
            </a:r>
            <a:r>
              <a:rPr sz="1100" b="0" i="0">
                <a:solidFill>
                  <a:srgbClr val="9C4A3C"/>
                </a:solidFill>
                <a:latin typeface="Consolas"/>
              </a:rPr>
              <a:t>X-Internal-Token</a:t>
            </a:r>
          </a:p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858C96"/>
                </a:solidFill>
                <a:latin typeface="Consolas"/>
              </a:rPr>
              <a:t>           ▼</a:t>
            </a:r>
          </a:p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858C96"/>
                </a:solidFill>
                <a:latin typeface="Consolas"/>
              </a:rPr>
              <a:t>┌──────────────────────┐  </a:t>
            </a:r>
            <a:r>
              <a:rPr sz="1100" b="0" i="0">
                <a:solidFill>
                  <a:srgbClr val="2B5F75"/>
                </a:solidFill>
                <a:latin typeface="Consolas"/>
              </a:rPr>
              <a:t>FastAPI</a:t>
            </a:r>
          </a:p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858C96"/>
                </a:solidFill>
                <a:latin typeface="Consolas"/>
              </a:rPr>
              <a:t>│  </a:t>
            </a:r>
            <a:r>
              <a:rPr sz="1100" b="0" i="0">
                <a:solidFill>
                  <a:srgbClr val="2B5F75"/>
                </a:solidFill>
                <a:latin typeface="Consolas"/>
              </a:rPr>
              <a:t>nobel-rag-api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       │  </a:t>
            </a:r>
            <a:r>
              <a:rPr sz="1100" b="0" i="0">
                <a:solidFill>
                  <a:srgbClr val="9C4A3C"/>
                </a:solidFill>
                <a:latin typeface="Consolas"/>
              </a:rPr>
              <a:t>yalnız iç ingress</a:t>
            </a:r>
          </a:p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858C96"/>
                </a:solidFill>
                <a:latin typeface="Consolas"/>
              </a:rPr>
              <a:t>└──────────┬───────────┘  </a:t>
            </a:r>
            <a:r>
              <a:rPr sz="1100" b="0" i="0">
                <a:solidFill>
                  <a:srgbClr val="4A5058"/>
                </a:solidFill>
                <a:latin typeface="Consolas"/>
              </a:rPr>
              <a:t>LangGraph · Chroma</a:t>
            </a:r>
          </a:p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858C96"/>
                </a:solidFill>
                <a:latin typeface="Consolas"/>
              </a:rPr>
              <a:t>           ▼</a:t>
            </a:r>
          </a:p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858C96"/>
                </a:solidFill>
                <a:latin typeface="Consolas"/>
              </a:rPr>
              <a:t>    </a:t>
            </a:r>
            <a:r>
              <a:rPr sz="1100" b="0" i="0">
                <a:solidFill>
                  <a:srgbClr val="2B5F75"/>
                </a:solidFill>
                <a:latin typeface="Consolas"/>
              </a:rPr>
              <a:t>Azure OpenAI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  (sohbet + embedding)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847088"/>
            <a:ext cx="4968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75704" y="2084832"/>
            <a:ext cx="4492752" cy="8961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858C96"/>
                </a:solidFill>
                <a:latin typeface="Consolas"/>
              </a:rPr>
              <a:t>NEDEN IKI KATMAN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50" b="0" i="0">
                <a:solidFill>
                  <a:srgbClr val="4A5058"/>
                </a:solidFill>
                <a:latin typeface="Segoe UI"/>
              </a:rPr>
              <a:t>Backend </a:t>
            </a:r>
            <a:r>
              <a:rPr sz="1050" b="1" i="0">
                <a:solidFill>
                  <a:srgbClr val="14171C"/>
                </a:solidFill>
                <a:latin typeface="Segoe UI"/>
              </a:rPr>
              <a:t>internete kapalı</a:t>
            </a:r>
            <a:r>
              <a:rPr sz="1050" b="0" i="0">
                <a:solidFill>
                  <a:srgbClr val="4A5058"/>
                </a:solidFill>
                <a:latin typeface="Segoe UI"/>
              </a:rPr>
              <a:t> — iç ingress veriyor, tek çağıran ortamdaki web katmanı.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950" b="0" i="0">
                <a:solidFill>
                  <a:srgbClr val="4A5058"/>
                </a:solidFill>
                <a:latin typeface="Consolas"/>
              </a:rPr>
              <a:t>X-Internal-Token</a:t>
            </a:r>
            <a:r>
              <a:rPr sz="1050" b="0" i="0">
                <a:solidFill>
                  <a:srgbClr val="4A5058"/>
                </a:solidFill>
                <a:latin typeface="Segoe UI"/>
              </a:rPr>
              <a:t> ikinci katman: ağ izolasyonu tek başına her kardeşe güvenirdi.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3328416"/>
            <a:ext cx="4968240" cy="17007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75704" y="3566160"/>
            <a:ext cx="4492752" cy="1225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858C96"/>
                </a:solidFill>
                <a:latin typeface="Consolas"/>
              </a:rPr>
              <a:t>BILINÇLI OLARAK ÇIKARILANLAR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950" b="0" i="0">
                <a:solidFill>
                  <a:srgbClr val="4A5058"/>
                </a:solidFill>
                <a:latin typeface="Consolas"/>
              </a:rPr>
              <a:t>/api/keys*</a:t>
            </a:r>
            <a:r>
              <a:rPr sz="1050" b="0" i="0">
                <a:solidFill>
                  <a:srgbClr val="4A5058"/>
                </a:solidFill>
                <a:latin typeface="Segoe UI"/>
              </a:rPr>
              <a:t> — tek sunucu tarafı sağlayıcı var, anahtar girişi saf saldırı yüzeyi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950" b="0" i="0">
                <a:solidFill>
                  <a:srgbClr val="4A5058"/>
                </a:solidFill>
                <a:latin typeface="Consolas"/>
              </a:rPr>
              <a:t>/api/evaluation/*</a:t>
            </a:r>
            <a:r>
              <a:rPr sz="1050" b="0" i="0">
                <a:solidFill>
                  <a:srgbClr val="4A5058"/>
                </a:solidFill>
                <a:latin typeface="Segoe UI"/>
              </a:rPr>
              <a:t> — çağrı başına 13 senaryo × N model, maliyet yükseltme ucu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950" b="0" i="0">
                <a:solidFill>
                  <a:srgbClr val="4A5058"/>
                </a:solidFill>
                <a:latin typeface="Consolas"/>
              </a:rPr>
              <a:t>DELETE /api/metrics</a:t>
            </a:r>
            <a:r>
              <a:rPr sz="1050" b="0" i="0">
                <a:solidFill>
                  <a:srgbClr val="4A5058"/>
                </a:solidFill>
                <a:latin typeface="Segoe UI"/>
              </a:rPr>
              <a:t> — yıkıcı ve demo için gereksiz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5175504"/>
            <a:ext cx="10820400" cy="786384"/>
          </a:xfrm>
          <a:prstGeom prst="rect">
            <a:avLst/>
          </a:prstGeom>
          <a:solidFill>
            <a:srgbClr val="F5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5175504"/>
            <a:ext cx="41148" cy="786384"/>
          </a:xfrm>
          <a:prstGeom prst="rect">
            <a:avLst/>
          </a:prstGeom>
          <a:solidFill>
            <a:srgbClr val="9A6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5340096"/>
            <a:ext cx="10290048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 i="0">
                <a:solidFill>
                  <a:srgbClr val="14171C"/>
                </a:solidFill>
                <a:latin typeface="Segoe UI"/>
              </a:rPr>
              <a:t>Edge runtime tuzağı: 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JWT işleri 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jose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ile yapılıyor çünkü middleware Edge runtime'da koşuyor ve orada Node'un 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crypto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'su yok. bcrypt ise yalnız Node. Bu ayrımı yanlış yapmak 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next dev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'de çalışan, </a:t>
            </a:r>
            <a:r>
              <a:rPr sz="1250" b="1" i="0">
                <a:solidFill>
                  <a:srgbClr val="14171C"/>
                </a:solidFill>
                <a:latin typeface="Segoe UI"/>
              </a:rPr>
              <a:t>konteynerde patlayan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bir build üretiyor.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03 · Azure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17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5F75"/>
                </a:solidFill>
                <a:latin typeface="Consolas"/>
              </a:rPr>
              <a:t>03 · B  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AZURE'DA EKLENEN ÜÇ BILEŞEN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77824"/>
            <a:ext cx="10820400" cy="9525"/>
          </a:xfrm>
          <a:prstGeom prst="rect">
            <a:avLst/>
          </a:prstGeom>
          <a:solidFill>
            <a:srgbClr val="DE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24128"/>
            <a:ext cx="1082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171C"/>
                </a:solidFill>
                <a:latin typeface="Georgia"/>
              </a:rPr>
              <a:t>Yükleme RAG'i, token akışı, konuşma özetleme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23920" cy="24323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066544"/>
            <a:ext cx="2948432" cy="19568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858C96"/>
                </a:solidFill>
                <a:latin typeface="Consolas"/>
              </a:rPr>
              <a:t>1 — DISKSIZ YÜKLEME RAG'I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50" b="0" i="0">
                <a:solidFill>
                  <a:srgbClr val="4A5058"/>
                </a:solidFill>
                <a:latin typeface="Segoe UI"/>
              </a:rPr>
              <a:t>Yüklenen belge </a:t>
            </a:r>
            <a:r>
              <a:rPr sz="1050" b="1" i="0">
                <a:solidFill>
                  <a:srgbClr val="14171C"/>
                </a:solidFill>
                <a:latin typeface="Segoe UI"/>
              </a:rPr>
              <a:t>korpus indeksine yazılmıyor</a:t>
            </a:r>
            <a:r>
              <a:rPr sz="1050" b="0" i="0">
                <a:solidFill>
                  <a:srgbClr val="4A5058"/>
                </a:solidFill>
                <a:latin typeface="Segoe UI"/>
              </a:rPr>
              <a:t> — o indeks bütün oturumların paylaştığı durum.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50" b="0" i="0">
                <a:solidFill>
                  <a:srgbClr val="4A5058"/>
                </a:solidFill>
                <a:latin typeface="Segoe UI"/>
              </a:rPr>
              <a:t>Kendi mini sıralaması var: bellekte vektör + BM25, sonuçlar korpusla </a:t>
            </a:r>
            <a:r>
              <a:rPr sz="1050" b="1" i="0">
                <a:solidFill>
                  <a:srgbClr val="14171C"/>
                </a:solidFill>
                <a:latin typeface="Segoe UI"/>
              </a:rPr>
              <a:t>RRF ile birleştiriliyor</a:t>
            </a:r>
            <a:r>
              <a:rPr sz="1050" b="0" i="0">
                <a:solidFill>
                  <a:srgbClr val="4A5058"/>
                </a:solidFill>
                <a:latin typeface="Segoe UI"/>
              </a:rPr>
              <a:t>.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50" b="0" i="0">
                <a:solidFill>
                  <a:srgbClr val="4A5058"/>
                </a:solidFill>
                <a:latin typeface="Segoe UI"/>
              </a:rPr>
              <a:t>Dosya istek içinde ayrıştırılıp atılıyor; yalnız parça ve vektörler, yalnız TTL boyunca yaşıyor.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4040" y="1828800"/>
            <a:ext cx="3423920" cy="24323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1784" y="2066544"/>
            <a:ext cx="2948432" cy="19568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858C96"/>
                </a:solidFill>
                <a:latin typeface="Consolas"/>
              </a:rPr>
              <a:t>2 — SSE TOKEN AKIŞI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50" b="0" i="0">
                <a:solidFill>
                  <a:srgbClr val="4A5058"/>
                </a:solidFill>
                <a:latin typeface="Segoe UI"/>
              </a:rPr>
              <a:t>Grafik senkron. Yeniden yazmak yerine </a:t>
            </a:r>
            <a:r>
              <a:rPr sz="1050" b="1" i="0">
                <a:solidFill>
                  <a:srgbClr val="14171C"/>
                </a:solidFill>
                <a:latin typeface="Segoe UI"/>
              </a:rPr>
              <a:t>işçi iş parçacığında</a:t>
            </a:r>
            <a:r>
              <a:rPr sz="1050" b="0" i="0">
                <a:solidFill>
                  <a:srgbClr val="4A5058"/>
                </a:solidFill>
                <a:latin typeface="Segoe UI"/>
              </a:rPr>
              <a:t> koşuyor, token'lar kuyruktan akıyor — </a:t>
            </a:r>
            <a:r>
              <a:rPr sz="950" b="0" i="0">
                <a:solidFill>
                  <a:srgbClr val="4A5058"/>
                </a:solidFill>
                <a:latin typeface="Consolas"/>
              </a:rPr>
              <a:t>graph.py</a:t>
            </a:r>
            <a:r>
              <a:rPr sz="1050" b="0" i="0">
                <a:solidFill>
                  <a:srgbClr val="4A5058"/>
                </a:solidFill>
                <a:latin typeface="Segoe UI"/>
              </a:rPr>
              <a:t> değişmedi.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50" b="0" i="0">
                <a:solidFill>
                  <a:srgbClr val="4A5058"/>
                </a:solidFill>
                <a:latin typeface="Segoe UI"/>
              </a:rPr>
              <a:t>Akan metin bir </a:t>
            </a:r>
            <a:r>
              <a:rPr sz="1050" b="1" i="0">
                <a:solidFill>
                  <a:srgbClr val="14171C"/>
                </a:solidFill>
                <a:latin typeface="Segoe UI"/>
              </a:rPr>
              <a:t>aday</a:t>
            </a:r>
            <a:r>
              <a:rPr sz="1050" b="0" i="0">
                <a:solidFill>
                  <a:srgbClr val="4A5058"/>
                </a:solidFill>
                <a:latin typeface="Segoe UI"/>
              </a:rPr>
              <a:t>: atıf kapısı reddedebilir. Nihai metin farklıysa istemciye </a:t>
            </a:r>
            <a:r>
              <a:rPr sz="950" b="0" i="0">
                <a:solidFill>
                  <a:srgbClr val="4A5058"/>
                </a:solidFill>
                <a:latin typeface="Consolas"/>
              </a:rPr>
              <a:t>replace</a:t>
            </a:r>
            <a:r>
              <a:rPr sz="1050" b="0" i="0">
                <a:solidFill>
                  <a:srgbClr val="4A5058"/>
                </a:solidFill>
                <a:latin typeface="Segoe UI"/>
              </a:rPr>
              <a:t> olayı gidiyor.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50" b="0" i="0">
                <a:solidFill>
                  <a:srgbClr val="4A5058"/>
                </a:solidFill>
                <a:latin typeface="Segoe UI"/>
              </a:rPr>
              <a:t>Olaylar: </a:t>
            </a:r>
            <a:r>
              <a:rPr sz="900" b="0" i="0">
                <a:solidFill>
                  <a:srgbClr val="4A5058"/>
                </a:solidFill>
                <a:latin typeface="Consolas"/>
              </a:rPr>
              <a:t>start · token · replace? · meta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2280" y="1828800"/>
            <a:ext cx="3423920" cy="24323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0024" y="2066544"/>
            <a:ext cx="2948432" cy="19568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858C96"/>
                </a:solidFill>
                <a:latin typeface="Consolas"/>
              </a:rPr>
              <a:t>3 — YUVARLANAN ÖZETLEME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50" b="0" i="0">
                <a:solidFill>
                  <a:srgbClr val="4A5058"/>
                </a:solidFill>
                <a:latin typeface="Segoe UI"/>
              </a:rPr>
              <a:t>Son 10 mesaj birebir tutuluyor; daha eskisi tek bir kümülatif özete katlanıyor.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50" b="0" i="0">
                <a:solidFill>
                  <a:srgbClr val="4A5058"/>
                </a:solidFill>
                <a:latin typeface="Segoe UI"/>
              </a:rPr>
              <a:t>Özetleme çağrısı </a:t>
            </a:r>
            <a:r>
              <a:rPr sz="1050" b="1" i="0">
                <a:solidFill>
                  <a:srgbClr val="14171C"/>
                </a:solidFill>
                <a:latin typeface="Segoe UI"/>
              </a:rPr>
              <a:t>araçsız</a:t>
            </a:r>
            <a:r>
              <a:rPr sz="1050" b="0" i="0">
                <a:solidFill>
                  <a:srgbClr val="4A5058"/>
                </a:solidFill>
                <a:latin typeface="Segoe UI"/>
              </a:rPr>
              <a:t> yapılıyor — özet çıkarmak belge araması tetiklememeli.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50" b="0" i="0">
                <a:solidFill>
                  <a:srgbClr val="4A5058"/>
                </a:solidFill>
                <a:latin typeface="Segoe UI"/>
              </a:rPr>
              <a:t>Konuşma durumu istemcide; sunucu durumsuz kalıyor.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425696"/>
            <a:ext cx="10820400" cy="1371600"/>
          </a:xfrm>
          <a:prstGeom prst="rect">
            <a:avLst/>
          </a:prstGeom>
          <a:solidFill>
            <a:srgbClr val="F5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425696"/>
            <a:ext cx="41148" cy="1371600"/>
          </a:xfrm>
          <a:prstGeom prst="rect">
            <a:avLst/>
          </a:prstGeom>
          <a:solidFill>
            <a:srgbClr val="9A6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4590288"/>
            <a:ext cx="10290048" cy="10789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i="0">
                <a:solidFill>
                  <a:srgbClr val="14171C"/>
                </a:solidFill>
                <a:latin typeface="Segoe UI"/>
              </a:rPr>
              <a:t>Yükleme RAG'inde ölçek uyuşmazlığı — bilinçli çözüldü. </a:t>
            </a:r>
            <a:r>
              <a:rPr sz="1200" b="0" i="0">
                <a:solidFill>
                  <a:srgbClr val="4A5058"/>
                </a:solidFill>
                <a:latin typeface="Segoe UI"/>
              </a:rPr>
              <a:t>Bir avuç yüklenen parça üzerindeki BM25'in IDF tabanı, 276 parçalık korpusunkiyle </a:t>
            </a:r>
            <a:r>
              <a:rPr sz="1200" b="1" i="0">
                <a:solidFill>
                  <a:srgbClr val="14171C"/>
                </a:solidFill>
                <a:latin typeface="Segoe UI"/>
              </a:rPr>
              <a:t>aynı değil</a:t>
            </a:r>
            <a:r>
              <a:rPr sz="1200" b="0" i="0">
                <a:solidFill>
                  <a:srgbClr val="4A5058"/>
                </a:solidFill>
                <a:latin typeface="Segoe UI"/>
              </a:rPr>
              <a:t>; iki BM25 sayısı karşılaştırılamaz.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4A5058"/>
                </a:solidFill>
                <a:latin typeface="Segoe UI"/>
              </a:rPr>
              <a:t>Bu yüzden kapı, yüklenen isabetleri </a:t>
            </a:r>
            <a:r>
              <a:rPr sz="1200" b="1" i="0">
                <a:solidFill>
                  <a:srgbClr val="14171C"/>
                </a:solidFill>
                <a:latin typeface="Segoe UI"/>
              </a:rPr>
              <a:t>yalnız kosinüsle</a:t>
            </a:r>
            <a:r>
              <a:rPr sz="1200" b="0" i="0">
                <a:solidFill>
                  <a:srgbClr val="4A5058"/>
                </a:solidFill>
                <a:latin typeface="Segoe UI"/>
              </a:rPr>
              <a:t> değerlendiriyor — aynı modelden gelen birim vektörlerin kosinüsleri karşılaştırılabilir. Korpus isabetleri ölçülmüş iki sinyalli kuralı koruyor.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03 · Azure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18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5F75"/>
                </a:solidFill>
                <a:latin typeface="Consolas"/>
              </a:rPr>
              <a:t>03 · C  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ÇOK MODELLI KATALOG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77824"/>
            <a:ext cx="10820400" cy="9525"/>
          </a:xfrm>
          <a:prstGeom prst="rect">
            <a:avLst/>
          </a:prstGeom>
          <a:solidFill>
            <a:srgbClr val="DE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24128"/>
            <a:ext cx="1082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171C"/>
                </a:solidFill>
                <a:latin typeface="Georgia"/>
              </a:rPr>
              <a:t>Model farkları bayrak olarak, if zinciri olarak değil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9326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4A5058"/>
                </a:solidFill>
                <a:latin typeface="Segoe UI"/>
              </a:rPr>
              <a:t>İstemciden gelen model adı </a:t>
            </a:r>
            <a:r>
              <a:rPr sz="1400" b="1" i="0">
                <a:solidFill>
                  <a:srgbClr val="14171C"/>
                </a:solidFill>
                <a:latin typeface="Segoe UI"/>
              </a:rPr>
              <a:t>hiçbir koşulda</a:t>
            </a:r>
            <a:r>
              <a:rPr sz="1400" b="0" i="0">
                <a:solidFill>
                  <a:srgbClr val="4A5058"/>
                </a:solidFill>
                <a:latin typeface="Segoe UI"/>
              </a:rPr>
              <a:t> dağıtım adı olarak kullanılmıyor — katalogdan geçiyor, tanınmazsa 400. Modeller arası çağrı farkları veri olarak duruyor.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487168"/>
            <a:ext cx="10820400" cy="310896"/>
          </a:xfrm>
          <a:prstGeom prst="rect">
            <a:avLst/>
          </a:prstGeom>
          <a:solidFill>
            <a:srgbClr val="F2F0EA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487168"/>
            <a:ext cx="212310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9802" y="2487168"/>
            <a:ext cx="283264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TOKEN PARAMETRESI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323" y="2487168"/>
            <a:ext cx="12361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SICAKLIK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4391" y="2487168"/>
            <a:ext cx="389694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ÖLÇÜLEN DAVRANIŞ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798064"/>
            <a:ext cx="10820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2798064"/>
            <a:ext cx="212310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4171C"/>
                </a:solidFill>
                <a:latin typeface="Consolas"/>
              </a:rPr>
              <a:t>gpt-4.1-mini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9802" y="2798064"/>
            <a:ext cx="283264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Consolas"/>
              </a:rPr>
              <a:t>max_tokens=1024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5323" y="2798064"/>
            <a:ext cx="12361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Consolas"/>
              </a:rPr>
              <a:t>0.0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4391" y="2798064"/>
            <a:ext cx="389694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Segoe UI"/>
              </a:rPr>
              <a:t>Varsayılan — eşikler bununla kalibre edildi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108960"/>
            <a:ext cx="10820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3108960"/>
            <a:ext cx="212310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4171C"/>
                </a:solidFill>
                <a:latin typeface="Consolas"/>
              </a:rPr>
              <a:t>gpt-5-mini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9802" y="3108960"/>
            <a:ext cx="283264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Consolas"/>
              </a:rPr>
              <a:t>max_completion_tokens=4096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35323" y="3108960"/>
            <a:ext cx="12361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C4A3C"/>
                </a:solidFill>
                <a:latin typeface="Segoe UI"/>
              </a:rPr>
              <a:t>varsayılan (1)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4391" y="3108960"/>
            <a:ext cx="389694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Segoe UI"/>
              </a:rPr>
              <a:t>temperature=0 → HTTP 400; 128 reasoning token harcadı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419856"/>
            <a:ext cx="10820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3419856"/>
            <a:ext cx="212310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4171C"/>
                </a:solidFill>
                <a:latin typeface="Consolas"/>
              </a:rPr>
              <a:t>Phi-4-mini-instruct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19802" y="3419856"/>
            <a:ext cx="283264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Consolas"/>
              </a:rPr>
              <a:t>max_tokens=1024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35323" y="3419856"/>
            <a:ext cx="12361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Consolas"/>
              </a:rPr>
              <a:t>0.0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4391" y="3419856"/>
            <a:ext cx="389694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Segoe UI"/>
              </a:rPr>
              <a:t>Azure OpenAI ucundan çalıştı — ayrı SDK gerekmedi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3840480"/>
            <a:ext cx="10820400" cy="1133856"/>
          </a:xfrm>
          <a:prstGeom prst="rect">
            <a:avLst/>
          </a:prstGeom>
          <a:solidFill>
            <a:srgbClr val="F7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3840480"/>
            <a:ext cx="41148" cy="1133856"/>
          </a:xfrm>
          <a:prstGeom prst="rect">
            <a:avLst/>
          </a:prstGeom>
          <a:solidFill>
            <a:srgbClr val="9C4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" y="4005072"/>
            <a:ext cx="10290048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 i="0">
                <a:solidFill>
                  <a:srgbClr val="14171C"/>
                </a:solidFill>
                <a:latin typeface="Segoe UI"/>
              </a:rPr>
              <a:t>İki ayrı görünen kusur, tek kök neden. 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gpt-5-mini "aramayı tekrarlıyor", Phi-4 "boş dönüyor" diye raporlanmıştı. Sondalayınca ikisi de aynı: </a:t>
            </a:r>
            <a:r>
              <a:rPr sz="1300" b="1" i="0">
                <a:solidFill>
                  <a:srgbClr val="14171C"/>
                </a:solidFill>
                <a:latin typeface="Segoe UI"/>
              </a:rPr>
              <a:t>araç şeması önlerindeyken metin üretmiyorlar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(Phi'de 3/3 tekrarlandı).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 i="0">
                <a:solidFill>
                  <a:srgbClr val="14171C"/>
                </a:solidFill>
                <a:latin typeface="Segoe UI"/>
              </a:rPr>
              <a:t>Çözüm — </a:t>
            </a:r>
            <a:r>
              <a:rPr sz="1200" b="0" i="0">
                <a:solidFill>
                  <a:srgbClr val="4A5058"/>
                </a:solidFill>
                <a:latin typeface="Consolas"/>
              </a:rPr>
              <a:t>final_answer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düğümü: araç şeması geri çekilip (</a:t>
            </a:r>
            <a:r>
              <a:rPr sz="1200" b="0" i="0">
                <a:solidFill>
                  <a:srgbClr val="4A5058"/>
                </a:solidFill>
                <a:latin typeface="Consolas"/>
              </a:rPr>
              <a:t>llm.chat(messages)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, tools yok) aynı bağlamla bir tur daha isteniyor. Prompt değişmedi, bağlam değişmedi.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120640"/>
            <a:ext cx="5760720" cy="256032"/>
          </a:xfrm>
          <a:prstGeom prst="rect">
            <a:avLst/>
          </a:prstGeom>
          <a:solidFill>
            <a:srgbClr val="F2F0EA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" y="5120640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59736" y="5120640"/>
            <a:ext cx="51663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ÖNCE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9252" y="5120640"/>
            <a:ext cx="51663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SONRA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58768" y="5120640"/>
            <a:ext cx="25328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SONUÇ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5376672"/>
            <a:ext cx="57607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" y="5376672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4171C"/>
                </a:solidFill>
                <a:latin typeface="Consolas"/>
              </a:rPr>
              <a:t>gpt-4.1-mini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59736" y="5376672"/>
            <a:ext cx="51663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A5058"/>
                </a:solidFill>
                <a:latin typeface="Consolas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59252" y="5376672"/>
            <a:ext cx="51663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A5058"/>
                </a:solidFill>
                <a:latin typeface="Consolas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58768" y="5376672"/>
            <a:ext cx="25328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Segoe UI"/>
              </a:rPr>
              <a:t>bu yola hiç uğramıyor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5632704"/>
            <a:ext cx="5760720" cy="256032"/>
          </a:xfrm>
          <a:prstGeom prst="rect">
            <a:avLst/>
          </a:prstGeom>
          <a:solidFill>
            <a:srgbClr val="E6EFE8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" y="5632704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4171C"/>
                </a:solidFill>
                <a:latin typeface="Consolas"/>
              </a:rPr>
              <a:t>gpt-5-mini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59736" y="5632704"/>
            <a:ext cx="51663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C4A3C"/>
                </a:solidFill>
                <a:latin typeface="Consolas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59252" y="5632704"/>
            <a:ext cx="51663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F6B4A"/>
                </a:solidFill>
                <a:latin typeface="Consolas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58768" y="5632704"/>
            <a:ext cx="25328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Segoe UI"/>
              </a:rPr>
              <a:t>doğru cevap (~18 sn)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" y="5888736"/>
            <a:ext cx="5760720" cy="256032"/>
          </a:xfrm>
          <a:prstGeom prst="rect">
            <a:avLst/>
          </a:prstGeom>
          <a:solidFill>
            <a:srgbClr val="E6EFE8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" y="5888736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4171C"/>
                </a:solidFill>
                <a:latin typeface="Consolas"/>
              </a:rPr>
              <a:t>Phi-4-mini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59736" y="5888736"/>
            <a:ext cx="51663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C4A3C"/>
                </a:solidFill>
                <a:latin typeface="Consolas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59252" y="5888736"/>
            <a:ext cx="51663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F6B4A"/>
                </a:solidFill>
                <a:latin typeface="Consolas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58768" y="5888736"/>
            <a:ext cx="25328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058"/>
                </a:solidFill>
                <a:latin typeface="Segoe UI"/>
              </a:rPr>
              <a:t>doğru cevap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20840" y="5120640"/>
            <a:ext cx="4785360" cy="1060704"/>
          </a:xfrm>
          <a:prstGeom prst="rect">
            <a:avLst/>
          </a:prstGeom>
          <a:solidFill>
            <a:srgbClr val="F7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20840" y="5120640"/>
            <a:ext cx="41148" cy="1060704"/>
          </a:xfrm>
          <a:prstGeom prst="rect">
            <a:avLst/>
          </a:prstGeom>
          <a:solidFill>
            <a:srgbClr val="9C4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0296" y="5285232"/>
            <a:ext cx="4255008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1" i="0">
                <a:solidFill>
                  <a:srgbClr val="14171C"/>
                </a:solidFill>
                <a:latin typeface="Segoe UI"/>
              </a:rPr>
              <a:t>Sonsuz döngü koruması şart. </a:t>
            </a:r>
            <a:r>
              <a:rPr sz="1050" b="0" i="0">
                <a:solidFill>
                  <a:srgbClr val="4A5058"/>
                </a:solidFill>
                <a:latin typeface="Consolas"/>
              </a:rPr>
              <a:t>after_llm</a:t>
            </a:r>
            <a:r>
              <a:rPr sz="1150" b="0" i="0">
                <a:solidFill>
                  <a:srgbClr val="4A5058"/>
                </a:solidFill>
                <a:latin typeface="Segoe UI"/>
              </a:rPr>
              <a:t> boş metni görünce </a:t>
            </a:r>
            <a:r>
              <a:rPr sz="1050" b="0" i="0">
                <a:solidFill>
                  <a:srgbClr val="4A5058"/>
                </a:solidFill>
                <a:latin typeface="Consolas"/>
              </a:rPr>
              <a:t>final_answer</a:t>
            </a:r>
            <a:r>
              <a:rPr sz="1150" b="0" i="0">
                <a:solidFill>
                  <a:srgbClr val="4A5058"/>
                </a:solidFill>
                <a:latin typeface="Segoe UI"/>
              </a:rPr>
              <a:t>'a yönlendiriyor; o düğüm de boş dönerse grafik sonsuza dek döner. </a:t>
            </a:r>
            <a:r>
              <a:rPr sz="1050" b="0" i="0">
                <a:solidFill>
                  <a:srgbClr val="4A5058"/>
                </a:solidFill>
                <a:latin typeface="Consolas"/>
              </a:rPr>
              <a:t>answered_toolless</a:t>
            </a:r>
            <a:r>
              <a:rPr sz="1150" b="0" i="0">
                <a:solidFill>
                  <a:srgbClr val="4A5058"/>
                </a:solidFill>
                <a:latin typeface="Segoe UI"/>
              </a:rPr>
              <a:t> bayrağı yolu tek seferlik yapıyor.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03 · Azure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19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5F75"/>
                </a:solidFill>
                <a:latin typeface="Consolas"/>
              </a:rPr>
              <a:t>03 · D  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PLAN GERÇEĞE ÇARPINCA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77824"/>
            <a:ext cx="10820400" cy="9525"/>
          </a:xfrm>
          <a:prstGeom prst="rect">
            <a:avLst/>
          </a:prstGeom>
          <a:solidFill>
            <a:srgbClr val="DE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24128"/>
            <a:ext cx="1082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171C"/>
                </a:solidFill>
                <a:latin typeface="Georgia"/>
              </a:rPr>
              <a:t>list-models kota demek değildir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9326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4A5058"/>
                </a:solidFill>
                <a:latin typeface="Segoe UI"/>
              </a:rPr>
              <a:t>Katalog için altı model planlanmıştı. </a:t>
            </a:r>
            <a:r>
              <a:rPr sz="1200" b="0" i="0">
                <a:solidFill>
                  <a:srgbClr val="4A5058"/>
                </a:solidFill>
                <a:latin typeface="Consolas"/>
              </a:rPr>
              <a:t>az cognitiveservices account list-models</a:t>
            </a:r>
            <a:r>
              <a:rPr sz="1400" b="0" i="0">
                <a:solidFill>
                  <a:srgbClr val="4A5058"/>
                </a:solidFill>
                <a:latin typeface="Segoe UI"/>
              </a:rPr>
              <a:t> altısını da "mevcut" diye listeliyordu. Dağıtım denemesi </a:t>
            </a:r>
            <a:r>
              <a:rPr sz="1200" b="0" i="0">
                <a:solidFill>
                  <a:srgbClr val="4A5058"/>
                </a:solidFill>
                <a:latin typeface="Consolas"/>
              </a:rPr>
              <a:t>InsufficientQuota</a:t>
            </a:r>
            <a:r>
              <a:rPr sz="1400" b="0" i="0">
                <a:solidFill>
                  <a:srgbClr val="4A5058"/>
                </a:solidFill>
                <a:latin typeface="Segoe UI"/>
              </a:rPr>
              <a:t> ile döndü.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615184"/>
            <a:ext cx="5181600" cy="1060704"/>
          </a:xfrm>
          <a:prstGeom prst="roundRect">
            <a:avLst>
              <a:gd name="adj" fmla="val 4000"/>
            </a:avLst>
          </a:prstGeom>
          <a:solidFill>
            <a:srgbClr val="F7E9E5"/>
          </a:solidFill>
          <a:ln w="12700">
            <a:solidFill>
              <a:srgbClr val="9C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798064"/>
            <a:ext cx="47426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950" b="0" i="0">
                <a:solidFill>
                  <a:srgbClr val="858C96"/>
                </a:solidFill>
                <a:latin typeface="Consolas"/>
              </a:rPr>
              <a:t>YANLIŞ SORU</a:t>
            </a:r>
          </a:p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00" b="0" i="0">
                <a:solidFill>
                  <a:srgbClr val="14171C"/>
                </a:solidFill>
                <a:latin typeface="Consolas"/>
              </a:rPr>
              <a:t>account list-models</a:t>
            </a:r>
          </a:p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50" b="0" i="0">
                <a:solidFill>
                  <a:srgbClr val="4A5058"/>
                </a:solidFill>
                <a:latin typeface="Segoe UI"/>
              </a:rPr>
              <a:t>"Katalogda var mı?"  →  Altı model de var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67400" y="2615184"/>
            <a:ext cx="45720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858C96"/>
                </a:solidFill>
                <a:latin typeface="Consola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600" y="2615184"/>
            <a:ext cx="5181600" cy="1060704"/>
          </a:xfrm>
          <a:prstGeom prst="roundRect">
            <a:avLst>
              <a:gd name="adj" fmla="val 4000"/>
            </a:avLst>
          </a:prstGeom>
          <a:solidFill>
            <a:srgbClr val="E6EFE8"/>
          </a:solidFill>
          <a:ln w="12700">
            <a:solidFill>
              <a:srgbClr val="3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4056" y="2798064"/>
            <a:ext cx="47426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950" b="0" i="0">
                <a:solidFill>
                  <a:srgbClr val="858C96"/>
                </a:solidFill>
                <a:latin typeface="Consolas"/>
              </a:rPr>
              <a:t>DOĞRU SORU</a:t>
            </a:r>
          </a:p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00" b="0" i="0">
                <a:solidFill>
                  <a:srgbClr val="14171C"/>
                </a:solidFill>
                <a:latin typeface="Consolas"/>
              </a:rPr>
              <a:t>usage list -l eastus</a:t>
            </a:r>
          </a:p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50" b="0" i="0">
                <a:solidFill>
                  <a:srgbClr val="4A5058"/>
                </a:solidFill>
                <a:latin typeface="Segoe UI"/>
              </a:rPr>
              <a:t>"Dağıtabilir miyim?"  →  Yalnız ikisinin kotası var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77056"/>
            <a:ext cx="10820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A5058"/>
                </a:solidFill>
                <a:latin typeface="Consolas"/>
              </a:rPr>
              <a:t>text-embedding-3-large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, </a:t>
            </a:r>
            <a:r>
              <a:rPr sz="1200" b="0" i="0">
                <a:solidFill>
                  <a:srgbClr val="4A5058"/>
                </a:solidFill>
                <a:latin typeface="Consolas"/>
              </a:rPr>
              <a:t>embed-v-4-0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, </a:t>
            </a:r>
            <a:r>
              <a:rPr sz="1200" b="0" i="0">
                <a:solidFill>
                  <a:srgbClr val="4A5058"/>
                </a:solidFill>
                <a:latin typeface="Consolas"/>
              </a:rPr>
              <a:t>Cohere-rerank-v4.0-fast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ve </a:t>
            </a:r>
            <a:r>
              <a:rPr sz="1200" b="0" i="0">
                <a:solidFill>
                  <a:srgbClr val="4A5058"/>
                </a:solidFill>
                <a:latin typeface="Consolas"/>
              </a:rPr>
              <a:t>cohere-command-a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 için eastus'ta kota sıfır. Dördü de swedencentral/eastus2'de kotalı, ama hesap eastus'ta — ikinci bir hesap mimariyi değiştireceği için </a:t>
            </a:r>
            <a:r>
              <a:rPr sz="1300" b="1" i="0">
                <a:solidFill>
                  <a:srgbClr val="14171C"/>
                </a:solidFill>
                <a:latin typeface="Segoe UI"/>
              </a:rPr>
              <a:t>kapsam dışı bırakıldı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718304"/>
            <a:ext cx="10820400" cy="1060704"/>
          </a:xfrm>
          <a:prstGeom prst="rect">
            <a:avLst/>
          </a:prstGeom>
          <a:solidFill>
            <a:srgbClr val="E4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718304"/>
            <a:ext cx="41148" cy="1060704"/>
          </a:xfrm>
          <a:prstGeom prst="rect">
            <a:avLst/>
          </a:prstGeom>
          <a:solidFill>
            <a:srgbClr val="2B5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4882896"/>
            <a:ext cx="10290048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 i="0">
                <a:solidFill>
                  <a:srgbClr val="14171C"/>
                </a:solidFill>
                <a:latin typeface="Segoe UI"/>
              </a:rPr>
              <a:t>Kapsam dışı bırakılan işi gizlemedim. 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Üç embedding indeksi ve yeniden sıralama (rerank) katmanı yapılmadı. Menü bu modelleri listede tutuyor ama devre dışı gösteriyor — </a:t>
            </a:r>
            <a:r>
              <a:rPr sz="1300" b="1" i="0">
                <a:solidFill>
                  <a:srgbClr val="14171C"/>
                </a:solidFill>
                <a:latin typeface="Segoe UI"/>
              </a:rPr>
              <a:t>sebebiyle birlikte</a:t>
            </a:r>
            <a:r>
              <a:rPr sz="1300" b="0" i="0">
                <a:solidFill>
                  <a:srgbClr val="4A5058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4A5058"/>
                </a:solidFill>
                <a:latin typeface="Segoe UI"/>
              </a:rPr>
              <a:t>Sessizce başarısız olan bir seçenek bırakmak, hiç göstermemekten daha kötü.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03 · Azure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20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5F75"/>
                </a:solidFill>
                <a:latin typeface="Consolas"/>
              </a:rPr>
              <a:t>03 · E  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DAĞITIMIN ÖĞRETTIKLERI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77824"/>
            <a:ext cx="10820400" cy="9525"/>
          </a:xfrm>
          <a:prstGeom prst="rect">
            <a:avLst/>
          </a:prstGeom>
          <a:solidFill>
            <a:srgbClr val="DE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24128"/>
            <a:ext cx="1082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171C"/>
                </a:solidFill>
                <a:latin typeface="Georgia"/>
              </a:rPr>
              <a:t>Yerelde geçen 163 test, konteynerde patladı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522732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112263"/>
            <a:ext cx="4751832" cy="9875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858C96"/>
                </a:solidFill>
                <a:latin typeface="Consolas"/>
              </a:rPr>
              <a:t>KUSUR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150" b="0" i="0">
                <a:solidFill>
                  <a:srgbClr val="4A5058"/>
                </a:solidFill>
                <a:latin typeface="Consolas"/>
              </a:rPr>
              <a:t>python-multipart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paketi 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azure/requirements.txt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'te </a:t>
            </a:r>
            <a:r>
              <a:rPr sz="1250" b="1" i="0">
                <a:solidFill>
                  <a:srgbClr val="14171C"/>
                </a:solidFill>
                <a:latin typeface="Segoe UI"/>
              </a:rPr>
              <a:t>yoktu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. Backend ilk revizyonda çöktü.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250" b="0" i="0">
                <a:solidFill>
                  <a:srgbClr val="4A5058"/>
                </a:solidFill>
                <a:latin typeface="Segoe UI"/>
              </a:rPr>
              <a:t>Yerelde başka bir projeden geldiği için 163 testin tamamı geçiyordu.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880" y="1874519"/>
            <a:ext cx="522732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6624" y="2112263"/>
            <a:ext cx="4751832" cy="9875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000" b="0" i="0">
                <a:solidFill>
                  <a:srgbClr val="858C96"/>
                </a:solidFill>
                <a:latin typeface="Consolas"/>
              </a:rPr>
              <a:t>DÜZELTME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250" b="0" i="0">
                <a:solidFill>
                  <a:srgbClr val="4A5058"/>
                </a:solidFill>
                <a:latin typeface="Segoe UI"/>
              </a:rPr>
              <a:t>Önce </a:t>
            </a:r>
            <a:r>
              <a:rPr sz="1250" b="1" i="0">
                <a:solidFill>
                  <a:srgbClr val="14171C"/>
                </a:solidFill>
                <a:latin typeface="Segoe UI"/>
              </a:rPr>
              <a:t>testle yakalandı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(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test_requirements.py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), sonra eklendi.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250" b="0" i="0">
                <a:solidFill>
                  <a:srgbClr val="4A5058"/>
                </a:solidFill>
                <a:latin typeface="Segoe UI"/>
              </a:rPr>
              <a:t>İmaj artık </a:t>
            </a:r>
            <a:r>
              <a:rPr sz="1250" b="1" i="0">
                <a:solidFill>
                  <a:srgbClr val="14171C"/>
                </a:solidFill>
                <a:latin typeface="Segoe UI"/>
              </a:rPr>
              <a:t>push'tan önce yerel duman testinden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geçiyor — kalan tüm dağıtımların standart adımı oldu.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529584"/>
            <a:ext cx="10820400" cy="1097280"/>
          </a:xfrm>
          <a:prstGeom prst="rect">
            <a:avLst/>
          </a:prstGeom>
          <a:solidFill>
            <a:srgbClr val="F5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529584"/>
            <a:ext cx="41148" cy="1097280"/>
          </a:xfrm>
          <a:prstGeom prst="rect">
            <a:avLst/>
          </a:prstGeom>
          <a:solidFill>
            <a:srgbClr val="9A6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3694176"/>
            <a:ext cx="10290048" cy="8046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 i="0">
                <a:solidFill>
                  <a:srgbClr val="14171C"/>
                </a:solidFill>
                <a:latin typeface="Segoe UI"/>
              </a:rPr>
              <a:t>İkinci dağıtım dersi: 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latest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etiketiyle push rollout tetiklemez. 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--image ...@sha256:&lt;digest&gt;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ile güncellemek gerekiyor.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 i="0">
                <a:solidFill>
                  <a:srgbClr val="14171C"/>
                </a:solidFill>
                <a:latin typeface="Segoe UI"/>
              </a:rPr>
              <a:t>Üçüncüsü: 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provisioningState: Succeeded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yalnız "Azure isteği kabul etti" demek. Gerçek durum revizyondaki 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healthState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/ 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runningState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alanlarında — ve bu ikisi bağımsız olarak Failed diyebiliyor.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791456"/>
            <a:ext cx="10820400" cy="1060704"/>
          </a:xfrm>
          <a:prstGeom prst="rect">
            <a:avLst/>
          </a:prstGeom>
          <a:solidFill>
            <a:srgbClr val="F7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791456"/>
            <a:ext cx="41148" cy="1060704"/>
          </a:xfrm>
          <a:prstGeom prst="rect">
            <a:avLst/>
          </a:prstGeom>
          <a:solidFill>
            <a:srgbClr val="9C4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4956048"/>
            <a:ext cx="10290048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 i="0">
                <a:solidFill>
                  <a:srgbClr val="14171C"/>
                </a:solidFill>
                <a:latin typeface="Segoe UI"/>
              </a:rPr>
              <a:t>Bir de tekrarlayan bir hata: 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kök 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.gitignore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'daki sabitlenmemiş 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lib/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kuralı, 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azure/web/lib/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klasörünü yutmuştu — o dosyalar hiç commit edilmemişti ve taze bir klon derlenmezdi.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 i="0">
                <a:solidFill>
                  <a:srgbClr val="14171C"/>
                </a:solidFill>
                <a:latin typeface="Segoe UI"/>
              </a:rPr>
              <a:t>Ders: 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"bende çalışıyor" ile "depoda var" farklı iddialar.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03 · Azure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82512"/>
            <a:ext cx="1082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58C96"/>
                </a:solidFill>
                <a:latin typeface="Consolas"/>
              </a:rPr>
              <a:t>21 /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5F75"/>
                </a:solidFill>
                <a:latin typeface="Consolas"/>
              </a:rPr>
              <a:t>04  </a:t>
            </a:r>
            <a:r>
              <a:rPr sz="1100" b="0" i="0">
                <a:solidFill>
                  <a:srgbClr val="858C96"/>
                </a:solidFill>
                <a:latin typeface="Consolas"/>
              </a:rPr>
              <a:t>KAPANIŞ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77824"/>
            <a:ext cx="10820400" cy="9525"/>
          </a:xfrm>
          <a:prstGeom prst="rect">
            <a:avLst/>
          </a:prstGeom>
          <a:solidFill>
            <a:srgbClr val="DE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24128"/>
            <a:ext cx="1082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171C"/>
                </a:solidFill>
                <a:latin typeface="Georgia"/>
              </a:rPr>
              <a:t>Bu projeden çıkardığım üç şey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38528"/>
            <a:ext cx="10820400" cy="8595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938528"/>
            <a:ext cx="475488" cy="859536"/>
          </a:xfrm>
          <a:prstGeom prst="roundRect">
            <a:avLst>
              <a:gd name="adj" fmla="val 4000"/>
            </a:avLst>
          </a:prstGeom>
          <a:solidFill>
            <a:srgbClr val="2B5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38528"/>
            <a:ext cx="475488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0744" y="2093976"/>
            <a:ext cx="990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171C"/>
                </a:solidFill>
                <a:latin typeface="Segoe UI"/>
              </a:rPr>
              <a:t>Ölçüm, planı yener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0744" y="2395728"/>
            <a:ext cx="990600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6000"/>
              </a:lnSpc>
            </a:pPr>
            <a:r>
              <a:rPr sz="1250" b="0" i="0">
                <a:solidFill>
                  <a:srgbClr val="4A5058"/>
                </a:solidFill>
                <a:latin typeface="Segoe UI"/>
              </a:rPr>
              <a:t>Plandaki 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MIN_COSINE=0.72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yanlıştı. Spec'in altı modeli "mevcut" demesi yanlıştı. Plandaki </a:t>
            </a:r>
            <a:r>
              <a:rPr sz="1150" b="0" i="0">
                <a:solidFill>
                  <a:srgbClr val="4A5058"/>
                </a:solidFill>
                <a:latin typeface="Consolas"/>
              </a:rPr>
              <a:t>_split_text</a:t>
            </a:r>
            <a:r>
              <a:rPr sz="1250" b="0" i="0">
                <a:solidFill>
                  <a:srgbClr val="4A5058"/>
                </a:solidFill>
                <a:latin typeface="Segoe UI"/>
              </a:rPr>
              <a:t> 12 parçayı sınırın üstünde bırakıyordu.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907792"/>
            <a:ext cx="10820400" cy="7863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2907792"/>
            <a:ext cx="475488" cy="786384"/>
          </a:xfrm>
          <a:prstGeom prst="roundRect">
            <a:avLst>
              <a:gd name="adj" fmla="val 4000"/>
            </a:avLst>
          </a:prstGeom>
          <a:solidFill>
            <a:srgbClr val="2B5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07792"/>
            <a:ext cx="475488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0744" y="3063240"/>
            <a:ext cx="990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171C"/>
                </a:solidFill>
                <a:latin typeface="Segoe UI"/>
              </a:rPr>
              <a:t>Aralıklı hata, gizlenmiş ürün hatasıdır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744" y="3364992"/>
            <a:ext cx="99060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6000"/>
              </a:lnSpc>
            </a:pPr>
            <a:r>
              <a:rPr sz="1250" b="0" i="0">
                <a:solidFill>
                  <a:srgbClr val="4A5058"/>
                </a:solidFill>
                <a:latin typeface="Segoe UI"/>
              </a:rPr>
              <a:t>12 koşunun 1'inde düşen test bir "flaky test" değil, geçerli soruları reddeden bir HNSW arama hatasıydı.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803904"/>
            <a:ext cx="10820400" cy="7863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803904"/>
            <a:ext cx="475488" cy="786384"/>
          </a:xfrm>
          <a:prstGeom prst="roundRect">
            <a:avLst>
              <a:gd name="adj" fmla="val 4000"/>
            </a:avLst>
          </a:prstGeom>
          <a:solidFill>
            <a:srgbClr val="2B5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803904"/>
            <a:ext cx="475488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0744" y="3959352"/>
            <a:ext cx="990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171C"/>
                </a:solidFill>
                <a:latin typeface="Segoe UI"/>
              </a:rPr>
              <a:t>İki belirti, bir hastalık olabilir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0744" y="4261104"/>
            <a:ext cx="99060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6000"/>
              </a:lnSpc>
            </a:pPr>
            <a:r>
              <a:rPr sz="1250" b="0" i="0">
                <a:solidFill>
                  <a:srgbClr val="4A5058"/>
                </a:solidFill>
                <a:latin typeface="Segoe UI"/>
              </a:rPr>
              <a:t>"Aramayı tekrarlıyor" ve "atıf koymuyor" ayrı iki kusur gibi raporlanmıştı. Kök nedeni sormak ikisini tek bir düğümle çözdü.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91456"/>
            <a:ext cx="25130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5F75"/>
                </a:solidFill>
                <a:latin typeface="Consolas"/>
              </a:rPr>
              <a:t>213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303520"/>
            <a:ext cx="25130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4A5058"/>
                </a:solidFill>
                <a:latin typeface="Segoe UI"/>
              </a:rPr>
              <a:t>backend testi · %93,9 kapsam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4908" y="4791456"/>
            <a:ext cx="25130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5F75"/>
                </a:solidFill>
                <a:latin typeface="Consolas"/>
              </a:rPr>
              <a:t>58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4908" y="5303520"/>
            <a:ext cx="25130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4A5058"/>
                </a:solidFill>
                <a:latin typeface="Segoe UI"/>
              </a:rPr>
              <a:t>web testi · lint temiz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4016" y="4791456"/>
            <a:ext cx="25130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5F75"/>
                </a:solidFill>
                <a:latin typeface="Consolas"/>
              </a:rPr>
              <a:t>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4016" y="5303520"/>
            <a:ext cx="25130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4A5058"/>
                </a:solidFill>
                <a:latin typeface="Segoe UI"/>
              </a:rPr>
              <a:t>mimari karar kaydı (ADR)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3124" y="4791456"/>
            <a:ext cx="25130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5F75"/>
                </a:solidFill>
                <a:latin typeface="Consola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93124" y="5303520"/>
            <a:ext cx="25130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4A5058"/>
                </a:solidFill>
                <a:latin typeface="Segoe UI"/>
              </a:rPr>
              <a:t>model, canlıda atıflı cevap veriyor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5815584"/>
            <a:ext cx="10820400" cy="9525"/>
          </a:xfrm>
          <a:prstGeom prst="rect">
            <a:avLst/>
          </a:prstGeom>
          <a:solidFill>
            <a:srgbClr val="DE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980176"/>
            <a:ext cx="1082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5058"/>
                </a:solidFill>
                <a:latin typeface="Segoe UI"/>
              </a:rPr>
              <a:t>Kod, testler ve karar kayıtları depoda; uygulama Azure'da çalışıyor. </a:t>
            </a:r>
            <a:r>
              <a:rPr sz="1300" b="1" i="0">
                <a:solidFill>
                  <a:srgbClr val="14171C"/>
                </a:solidFill>
                <a:latin typeface="Segoe UI"/>
              </a:rPr>
              <a:t>Her sayı bir komutun çıktısından geliyor.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